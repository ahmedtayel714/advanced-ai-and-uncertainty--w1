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libri (MS) Bold" charset="1" panose="020F0702030404030204"/>
      <p:regular r:id="rId35"/>
    </p:embeddedFont>
    <p:embeddedFont>
      <p:font typeface="Cambria Bold" charset="1" panose="02040803050406030204"/>
      <p:regular r:id="rId36"/>
    </p:embeddedFont>
    <p:embeddedFont>
      <p:font typeface="Calibri (MS)" charset="1" panose="020F0502020204030204"/>
      <p:regular r:id="rId37"/>
    </p:embeddedFont>
    <p:embeddedFont>
      <p:font typeface="Calibri (MS) Italics" charset="1" panose="020F05020202040A0204"/>
      <p:regular r:id="rId38"/>
    </p:embeddedFont>
    <p:embeddedFont>
      <p:font typeface="Cambria" charset="1" panose="02040503050406030204"/>
      <p:regular r:id="rId39"/>
    </p:embeddedFont>
    <p:embeddedFont>
      <p:font typeface="Calibri (MS) Bold Italics" charset="1" panose="020F07020304040A0204"/>
      <p:regular r:id="rId40"/>
    </p:embeddedFont>
    <p:embeddedFont>
      <p:font typeface="Courier New" charset="1" panose="02070309020205020404"/>
      <p:regular r:id="rId41"/>
    </p:embeddedFont>
    <p:embeddedFont>
      <p:font typeface="Courier New Bold" charset="1" panose="020706090202050204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8.png" Type="http://schemas.openxmlformats.org/officeDocument/2006/relationships/image"/><Relationship Id="rId4" Target="https://colab.research.google.com/github/ahmedtayel714/Advanced-AI-and-Uncertainty--W1/blob/main/W01_UncertaintyDemo_Team01.ipynb" TargetMode="External" Type="http://schemas.openxmlformats.org/officeDocument/2006/relationships/hyperlink"/><Relationship Id="rId5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5580" y="1268730"/>
            <a:ext cx="7132320" cy="5061204"/>
            <a:chOff x="0" y="0"/>
            <a:chExt cx="9509760" cy="6748272"/>
          </a:xfrm>
        </p:grpSpPr>
        <p:sp>
          <p:nvSpPr>
            <p:cNvPr name="Freeform 3" id="3" descr="Plot comparing a crisp step function, a fuzzy ramp and a probability bell curve"/>
            <p:cNvSpPr/>
            <p:nvPr/>
          </p:nvSpPr>
          <p:spPr>
            <a:xfrm flipH="false" flipV="false" rot="0">
              <a:off x="0" y="0"/>
              <a:ext cx="9509760" cy="6748272"/>
            </a:xfrm>
            <a:custGeom>
              <a:avLst/>
              <a:gdLst/>
              <a:ahLst/>
              <a:cxnLst/>
              <a:rect r="r" b="b" t="t" l="l"/>
              <a:pathLst>
                <a:path h="674827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748272"/>
                  </a:lnTo>
                  <a:lnTo>
                    <a:pt x="0" y="67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" r="0" b="-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568574" y="7372350"/>
            <a:ext cx="2919326" cy="2490550"/>
          </a:xfrm>
          <a:custGeom>
            <a:avLst/>
            <a:gdLst/>
            <a:ahLst/>
            <a:cxnLst/>
            <a:rect r="r" b="b" t="t" l="l"/>
            <a:pathLst>
              <a:path h="2490550" w="2919326">
                <a:moveTo>
                  <a:pt x="0" y="0"/>
                </a:moveTo>
                <a:lnTo>
                  <a:pt x="2919326" y="0"/>
                </a:lnTo>
                <a:lnTo>
                  <a:pt x="2919326" y="2490550"/>
                </a:lnTo>
                <a:lnTo>
                  <a:pt x="0" y="2490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76200" cap="rnd">
            <a:solidFill>
              <a:srgbClr val="56B4E9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97280" y="990600"/>
            <a:ext cx="96012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342">
                <a:solidFill>
                  <a:srgbClr val="9CA3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CS405  ·  DR.Noha El-Shoafy  ·  WEEK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280" y="1850708"/>
            <a:ext cx="8778240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Advanced AI and Uncertainty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7280" y="4897755"/>
            <a:ext cx="850392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Four kinds of imperfect information, two ways to model vagueness, and probability for chance and missing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7280" y="6951345"/>
            <a:ext cx="877824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Ahmed Ayman Tayel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7658100"/>
            <a:ext cx="877824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Registration ID 232611000001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8776335"/>
            <a:ext cx="96012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6B4E9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of Computers and Artificial Intelligence, Matruh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5580" y="6501765"/>
            <a:ext cx="71323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i="true">
                <a:solidFill>
                  <a:srgbClr val="9CA3A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Crisp logic, fuzzy sets and probability: three tools, three kinds of uncertainty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Agenda and roles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2057400"/>
          <a:ext cx="16611600" cy="6667500"/>
        </p:xfrm>
        <a:graphic>
          <a:graphicData uri="http://schemas.openxmlformats.org/drawingml/2006/table">
            <a:tbl>
              <a:tblPr/>
              <a:tblGrid>
                <a:gridCol w="2027459"/>
                <a:gridCol w="1665682"/>
                <a:gridCol w="10167445"/>
                <a:gridCol w="2751014"/>
              </a:tblGrid>
              <a:tr h="715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Slides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744013">
                <a:tc rowSpan="2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AI landscape today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3–5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44013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Why uncertainty matters in AI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6–8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44013">
                <a:tc rowSpan="2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Four kinds of imperfect information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9–10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013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2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Aleatoric vs epistemic uncertainty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11–13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013">
                <a:tc rowSpan="2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Crisp logic and its limits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14–16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44013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Fuzzy logic: the basic idea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17–19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44013">
                <a:tc rowSpan="2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Probability and missing data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20–23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013">
                <a:tc vMerge="true"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 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Live demo and link to the course project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24–27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23189" y="8721090"/>
            <a:ext cx="1664162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Presenter </a:t>
            </a: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 Ahmed Ayman Tayel   |   Registration ID: 232611000001   |   Team 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9279255"/>
            <a:ext cx="1664162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live Google Colab demo (about 4 minutes) runs between slides 24 and 25.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1 · THE AI LANDSCAPE TODAY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AI is the umbrella; each ring is a narrower idea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1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Diagram: own synthesis after Russell and Norvig [1], Goodfellow et al. [2], Engelbrecht [3].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12300" y="1768176"/>
            <a:ext cx="12918990" cy="6825755"/>
            <a:chOff x="0" y="0"/>
            <a:chExt cx="16053102" cy="84816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053102" cy="8481665"/>
            </a:xfrm>
            <a:custGeom>
              <a:avLst/>
              <a:gdLst/>
              <a:ahLst/>
              <a:cxnLst/>
              <a:rect r="r" b="b" t="t" l="l"/>
              <a:pathLst>
                <a:path h="8481665" w="16053102">
                  <a:moveTo>
                    <a:pt x="0" y="4240833"/>
                  </a:moveTo>
                  <a:cubicBezTo>
                    <a:pt x="0" y="1898691"/>
                    <a:pt x="3593631" y="0"/>
                    <a:pt x="8026551" y="0"/>
                  </a:cubicBezTo>
                  <a:cubicBezTo>
                    <a:pt x="12459471" y="0"/>
                    <a:pt x="16053102" y="1898691"/>
                    <a:pt x="16053102" y="4240833"/>
                  </a:cubicBezTo>
                  <a:cubicBezTo>
                    <a:pt x="16053102" y="6582974"/>
                    <a:pt x="12459471" y="8481665"/>
                    <a:pt x="8026551" y="8481665"/>
                  </a:cubicBezTo>
                  <a:cubicBezTo>
                    <a:pt x="3593630" y="8481665"/>
                    <a:pt x="0" y="6582973"/>
                    <a:pt x="0" y="4240833"/>
                  </a:cubicBezTo>
                  <a:close/>
                </a:path>
              </a:pathLst>
            </a:custGeom>
            <a:solidFill>
              <a:srgbClr val="F3F4F6"/>
            </a:solidFill>
            <a:ln w="42862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333872" y="3130868"/>
            <a:ext cx="7048256" cy="3830002"/>
            <a:chOff x="0" y="0"/>
            <a:chExt cx="10544630" cy="57299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4630" cy="5729923"/>
            </a:xfrm>
            <a:custGeom>
              <a:avLst/>
              <a:gdLst/>
              <a:ahLst/>
              <a:cxnLst/>
              <a:rect r="r" b="b" t="t" l="l"/>
              <a:pathLst>
                <a:path h="5729923" w="10544630">
                  <a:moveTo>
                    <a:pt x="0" y="2864961"/>
                  </a:moveTo>
                  <a:cubicBezTo>
                    <a:pt x="0" y="1282646"/>
                    <a:pt x="2360478" y="0"/>
                    <a:pt x="5272315" y="0"/>
                  </a:cubicBezTo>
                  <a:cubicBezTo>
                    <a:pt x="8184152" y="0"/>
                    <a:pt x="10544630" y="1282646"/>
                    <a:pt x="10544630" y="2864961"/>
                  </a:cubicBezTo>
                  <a:cubicBezTo>
                    <a:pt x="10544630" y="4447277"/>
                    <a:pt x="8184152" y="5729923"/>
                    <a:pt x="5272315" y="5729923"/>
                  </a:cubicBezTo>
                  <a:cubicBezTo>
                    <a:pt x="2360478" y="5729923"/>
                    <a:pt x="0" y="4447277"/>
                    <a:pt x="0" y="2864961"/>
                  </a:cubicBezTo>
                  <a:close/>
                </a:path>
              </a:pathLst>
            </a:custGeom>
            <a:solidFill>
              <a:srgbClr val="E5E7EB"/>
            </a:solidFill>
            <a:ln w="42862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407569" y="4248612"/>
            <a:ext cx="8182451" cy="4208159"/>
            <a:chOff x="0" y="0"/>
            <a:chExt cx="10909935" cy="56108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09935" cy="5610879"/>
            </a:xfrm>
            <a:custGeom>
              <a:avLst/>
              <a:gdLst/>
              <a:ahLst/>
              <a:cxnLst/>
              <a:rect r="r" b="b" t="t" l="l"/>
              <a:pathLst>
                <a:path h="5610879" w="10909935">
                  <a:moveTo>
                    <a:pt x="0" y="2805440"/>
                  </a:moveTo>
                  <a:cubicBezTo>
                    <a:pt x="0" y="1256034"/>
                    <a:pt x="2442308" y="0"/>
                    <a:pt x="5454967" y="0"/>
                  </a:cubicBezTo>
                  <a:cubicBezTo>
                    <a:pt x="8467628" y="0"/>
                    <a:pt x="10909935" y="1256034"/>
                    <a:pt x="10909935" y="2805440"/>
                  </a:cubicBezTo>
                  <a:cubicBezTo>
                    <a:pt x="10909935" y="4354845"/>
                    <a:pt x="8467628" y="5610879"/>
                    <a:pt x="5454967" y="5610879"/>
                  </a:cubicBezTo>
                  <a:cubicBezTo>
                    <a:pt x="2442307" y="5610879"/>
                    <a:pt x="0" y="4354845"/>
                    <a:pt x="0" y="2805440"/>
                  </a:cubicBezTo>
                  <a:close/>
                </a:path>
              </a:pathLst>
            </a:custGeom>
            <a:solidFill>
              <a:srgbClr val="D1D5DB"/>
            </a:solidFill>
            <a:ln w="42862" cap="sq">
              <a:solidFill>
                <a:srgbClr val="37415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504849" y="5670709"/>
            <a:ext cx="4569142" cy="2580322"/>
            <a:chOff x="0" y="0"/>
            <a:chExt cx="6092190" cy="34404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2190" cy="3440430"/>
            </a:xfrm>
            <a:custGeom>
              <a:avLst/>
              <a:gdLst/>
              <a:ahLst/>
              <a:cxnLst/>
              <a:rect r="r" b="b" t="t" l="l"/>
              <a:pathLst>
                <a:path h="3440430" w="6092190">
                  <a:moveTo>
                    <a:pt x="0" y="1720215"/>
                  </a:moveTo>
                  <a:cubicBezTo>
                    <a:pt x="0" y="770128"/>
                    <a:pt x="1363726" y="0"/>
                    <a:pt x="3046095" y="0"/>
                  </a:cubicBezTo>
                  <a:cubicBezTo>
                    <a:pt x="4728464" y="0"/>
                    <a:pt x="6092190" y="770128"/>
                    <a:pt x="6092190" y="1720215"/>
                  </a:cubicBezTo>
                  <a:cubicBezTo>
                    <a:pt x="6092190" y="2670302"/>
                    <a:pt x="4728464" y="3440430"/>
                    <a:pt x="3046095" y="3440430"/>
                  </a:cubicBezTo>
                  <a:cubicBezTo>
                    <a:pt x="1363726" y="3440430"/>
                    <a:pt x="0" y="2670302"/>
                    <a:pt x="0" y="1720215"/>
                  </a:cubicBezTo>
                  <a:close/>
                </a:path>
              </a:pathLst>
            </a:custGeom>
            <a:solidFill>
              <a:srgbClr val="9CA3AF"/>
            </a:solidFill>
            <a:ln w="42862" cap="sq">
              <a:solidFill>
                <a:srgbClr val="37415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77388" y="3130867"/>
            <a:ext cx="7934325" cy="5396865"/>
            <a:chOff x="0" y="0"/>
            <a:chExt cx="10579100" cy="71958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79100" cy="7195820"/>
            </a:xfrm>
            <a:custGeom>
              <a:avLst/>
              <a:gdLst/>
              <a:ahLst/>
              <a:cxnLst/>
              <a:rect r="r" b="b" t="t" l="l"/>
              <a:pathLst>
                <a:path h="7195820" w="10579100">
                  <a:moveTo>
                    <a:pt x="0" y="3597910"/>
                  </a:moveTo>
                  <a:cubicBezTo>
                    <a:pt x="0" y="1610868"/>
                    <a:pt x="2368169" y="0"/>
                    <a:pt x="5289550" y="0"/>
                  </a:cubicBezTo>
                  <a:cubicBezTo>
                    <a:pt x="8210931" y="0"/>
                    <a:pt x="10579100" y="1610868"/>
                    <a:pt x="10579100" y="3597910"/>
                  </a:cubicBezTo>
                  <a:cubicBezTo>
                    <a:pt x="10579100" y="5584952"/>
                    <a:pt x="8210931" y="7195820"/>
                    <a:pt x="5289550" y="7195820"/>
                  </a:cubicBezTo>
                  <a:cubicBezTo>
                    <a:pt x="2368169" y="7195820"/>
                    <a:pt x="0" y="5584952"/>
                    <a:pt x="0" y="3597910"/>
                  </a:cubicBezTo>
                  <a:close/>
                </a:path>
              </a:pathLst>
            </a:custGeom>
            <a:solidFill>
              <a:srgbClr val="0072B2">
                <a:alpha val="1176"/>
              </a:srgbClr>
            </a:solidFill>
            <a:ln w="47625" cap="sq">
              <a:solidFill>
                <a:srgbClr val="0072B2"/>
              </a:solidFill>
              <a:prstDash val="dash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3566160" y="2247138"/>
            <a:ext cx="754380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Artificial intelligence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machines doing tasks that need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54680" y="3371850"/>
            <a:ext cx="740664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patterns from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14800" y="4551426"/>
            <a:ext cx="521208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 learning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many-layer neural networks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800600" y="6336792"/>
            <a:ext cx="3977640" cy="1234440"/>
            <a:chOff x="0" y="0"/>
            <a:chExt cx="530352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3035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Generative AI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 that create new content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127480" y="4526280"/>
            <a:ext cx="3086100" cy="2057400"/>
            <a:chOff x="0" y="0"/>
            <a:chExt cx="4114800" cy="2743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14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11480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072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Computational intelligence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nature-inspired, adaptive methods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35487" y="5417820"/>
            <a:ext cx="1480213" cy="934872"/>
            <a:chOff x="0" y="0"/>
            <a:chExt cx="173736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37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33" t="0" r="-3103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37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 networks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521440" y="4800600"/>
            <a:ext cx="2194560" cy="411480"/>
            <a:chOff x="0" y="0"/>
            <a:chExt cx="29260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9260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systems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90020" y="5760720"/>
            <a:ext cx="2057400" cy="822960"/>
            <a:chOff x="0" y="0"/>
            <a:chExt cx="274320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743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Evolutionary computation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22960" y="8917781"/>
            <a:ext cx="159105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Computational intelligence overlaps AI and machine learning; sources draw its boundary differently.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1 · THE AI LANDSCAPE TODAY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Two ways to build AI: write the rules, or learn from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1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MYCIN: Shortliffe [4]. Retinopathy detector: Gulshan et al. [5].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2194560"/>
          <a:ext cx="16630650" cy="3657600"/>
        </p:xfrm>
        <a:graphic>
          <a:graphicData uri="http://schemas.openxmlformats.org/drawingml/2006/table">
            <a:tbl>
              <a:tblPr/>
              <a:tblGrid>
                <a:gridCol w="3573955"/>
                <a:gridCol w="6505847"/>
                <a:gridCol w="6550848"/>
              </a:tblGrid>
              <a:tr h="6793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Symbolic (knowledge-based)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Data-driven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7445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Knowledge comes from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Experts write rules and facts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model is trained on examples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5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It decides by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Logical inference over symbols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Numeric computation with learned parameters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5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Strength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Explainable; works with little data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Copes with noisy input such as images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5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Weakness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Brittle and costly to write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Needs much data; opaque; can be confidently wrong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822960" y="6309360"/>
            <a:ext cx="8165135" cy="2880360"/>
            <a:chOff x="0" y="0"/>
            <a:chExt cx="10886846" cy="3840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86822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3657600"/>
                  </a:lnTo>
                  <a:cubicBezTo>
                    <a:pt x="10886822" y="3758565"/>
                    <a:pt x="10804906" y="3840480"/>
                    <a:pt x="10703941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0150" y="7098030"/>
            <a:ext cx="1303020" cy="1303020"/>
            <a:chOff x="0" y="0"/>
            <a:chExt cx="1737360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99845" y="7397725"/>
            <a:ext cx="703631" cy="703631"/>
            <a:chOff x="0" y="0"/>
            <a:chExt cx="938174" cy="938174"/>
          </a:xfrm>
        </p:grpSpPr>
        <p:sp>
          <p:nvSpPr>
            <p:cNvPr name="Freeform 25" id="25" descr="stethoscope"/>
            <p:cNvSpPr/>
            <p:nvPr/>
          </p:nvSpPr>
          <p:spPr>
            <a:xfrm flipH="false" flipV="false" rot="0">
              <a:off x="0" y="0"/>
              <a:ext cx="938149" cy="938149"/>
            </a:xfrm>
            <a:custGeom>
              <a:avLst/>
              <a:gdLst/>
              <a:ahLst/>
              <a:cxnLst/>
              <a:rect r="r" b="b" t="t" l="l"/>
              <a:pathLst>
                <a:path h="938149" w="938149">
                  <a:moveTo>
                    <a:pt x="0" y="0"/>
                  </a:moveTo>
                  <a:lnTo>
                    <a:pt x="938149" y="0"/>
                  </a:lnTo>
                  <a:lnTo>
                    <a:pt x="938149" y="938149"/>
                  </a:lnTo>
                  <a:lnTo>
                    <a:pt x="0" y="9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880360" y="6633210"/>
            <a:ext cx="58293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Real example: MYCIN (1970s)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80360" y="7555230"/>
            <a:ext cx="58293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If-then rules with certainty factors advised on antibiotics for blood infections.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9448" y="6309360"/>
            <a:ext cx="8165135" cy="2880360"/>
            <a:chOff x="0" y="0"/>
            <a:chExt cx="10886846" cy="3840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86822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3657600"/>
                  </a:lnTo>
                  <a:cubicBezTo>
                    <a:pt x="10886822" y="3758565"/>
                    <a:pt x="10804906" y="3840480"/>
                    <a:pt x="10703941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76638" y="7098030"/>
            <a:ext cx="1303020" cy="1303020"/>
            <a:chOff x="0" y="0"/>
            <a:chExt cx="1737360" cy="1737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976333" y="7397725"/>
            <a:ext cx="703631" cy="703631"/>
            <a:chOff x="0" y="0"/>
            <a:chExt cx="938174" cy="938174"/>
          </a:xfrm>
        </p:grpSpPr>
        <p:sp>
          <p:nvSpPr>
            <p:cNvPr name="Freeform 33" id="33" descr="eye"/>
            <p:cNvSpPr/>
            <p:nvPr/>
          </p:nvSpPr>
          <p:spPr>
            <a:xfrm flipH="false" flipV="false" rot="0">
              <a:off x="0" y="0"/>
              <a:ext cx="938149" cy="938149"/>
            </a:xfrm>
            <a:custGeom>
              <a:avLst/>
              <a:gdLst/>
              <a:ahLst/>
              <a:cxnLst/>
              <a:rect r="r" b="b" t="t" l="l"/>
              <a:pathLst>
                <a:path h="938149" w="938149">
                  <a:moveTo>
                    <a:pt x="0" y="0"/>
                  </a:moveTo>
                  <a:lnTo>
                    <a:pt x="938149" y="0"/>
                  </a:lnTo>
                  <a:lnTo>
                    <a:pt x="938149" y="938149"/>
                  </a:lnTo>
                  <a:lnTo>
                    <a:pt x="0" y="9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56848" y="6633210"/>
            <a:ext cx="58293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Real example: retinopathy AI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56848" y="7555230"/>
            <a:ext cx="58293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trained on about 128,000 retinal photographs flags the disease.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1 · THE AI LANDSCAPE TODAY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Four classic AI problems, each harder under uncertainty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1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2695810" cy="630936"/>
            <a:chOff x="0" y="0"/>
            <a:chExt cx="16927747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27747" cy="841248"/>
            </a:xfrm>
            <a:custGeom>
              <a:avLst/>
              <a:gdLst/>
              <a:ahLst/>
              <a:cxnLst/>
              <a:rect r="r" b="b" t="t" l="l"/>
              <a:pathLst>
                <a:path h="841248" w="16927747">
                  <a:moveTo>
                    <a:pt x="0" y="0"/>
                  </a:moveTo>
                  <a:lnTo>
                    <a:pt x="16927747" y="0"/>
                  </a:lnTo>
                  <a:lnTo>
                    <a:pt x="16927747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-2208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6927747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Organisation follows Russell and Norvig [1]: search (chs. 3–6), knowledge and planning (chs. 7–11), uncertain knowledge and reasoning (chs. 12–18).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263140"/>
            <a:ext cx="8165135" cy="3154680"/>
            <a:chOff x="0" y="0"/>
            <a:chExt cx="10886846" cy="4206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37310" y="3188970"/>
            <a:ext cx="1303020" cy="1303020"/>
            <a:chOff x="0" y="0"/>
            <a:chExt cx="1737360" cy="1737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37005" y="3488665"/>
            <a:ext cx="703631" cy="703631"/>
            <a:chOff x="0" y="0"/>
            <a:chExt cx="938174" cy="938174"/>
          </a:xfrm>
        </p:grpSpPr>
        <p:sp>
          <p:nvSpPr>
            <p:cNvPr name="Freeform 24" id="24" descr="Search"/>
            <p:cNvSpPr/>
            <p:nvPr/>
          </p:nvSpPr>
          <p:spPr>
            <a:xfrm flipH="false" flipV="false" rot="0">
              <a:off x="0" y="0"/>
              <a:ext cx="938149" cy="938149"/>
            </a:xfrm>
            <a:custGeom>
              <a:avLst/>
              <a:gdLst/>
              <a:ahLst/>
              <a:cxnLst/>
              <a:rect r="r" b="b" t="t" l="l"/>
              <a:pathLst>
                <a:path h="938149" w="938149">
                  <a:moveTo>
                    <a:pt x="0" y="0"/>
                  </a:moveTo>
                  <a:lnTo>
                    <a:pt x="938149" y="0"/>
                  </a:lnTo>
                  <a:lnTo>
                    <a:pt x="938149" y="938149"/>
                  </a:lnTo>
                  <a:lnTo>
                    <a:pt x="0" y="9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017520" y="2545842"/>
            <a:ext cx="56921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Search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17520" y="3193542"/>
            <a:ext cx="569214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Find a sequence of actions that reaches a goal.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17520" y="4153662"/>
            <a:ext cx="569214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uncertainty enters: </a:t>
            </a:r>
            <a:r>
              <a:rPr lang="en-US" sz="22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The map, or the opponent's next move, may differ from the model.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9448" y="2263140"/>
            <a:ext cx="8165135" cy="3154680"/>
            <a:chOff x="0" y="0"/>
            <a:chExt cx="10886846" cy="4206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13798" y="3188970"/>
            <a:ext cx="1303020" cy="1303020"/>
            <a:chOff x="0" y="0"/>
            <a:chExt cx="1737360" cy="1737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13493" y="3488665"/>
            <a:ext cx="703631" cy="703631"/>
            <a:chOff x="0" y="0"/>
            <a:chExt cx="938174" cy="938174"/>
          </a:xfrm>
        </p:grpSpPr>
        <p:sp>
          <p:nvSpPr>
            <p:cNvPr name="Freeform 33" id="33" descr="Knowledge representation"/>
            <p:cNvSpPr/>
            <p:nvPr/>
          </p:nvSpPr>
          <p:spPr>
            <a:xfrm flipH="false" flipV="false" rot="0">
              <a:off x="0" y="0"/>
              <a:ext cx="938149" cy="938149"/>
            </a:xfrm>
            <a:custGeom>
              <a:avLst/>
              <a:gdLst/>
              <a:ahLst/>
              <a:cxnLst/>
              <a:rect r="r" b="b" t="t" l="l"/>
              <a:pathLst>
                <a:path h="938149" w="938149">
                  <a:moveTo>
                    <a:pt x="0" y="0"/>
                  </a:moveTo>
                  <a:lnTo>
                    <a:pt x="938149" y="0"/>
                  </a:lnTo>
                  <a:lnTo>
                    <a:pt x="938149" y="938149"/>
                  </a:lnTo>
                  <a:lnTo>
                    <a:pt x="0" y="9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494008" y="2545842"/>
            <a:ext cx="56921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Knowledge representation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94008" y="3193542"/>
            <a:ext cx="569214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Encode facts so a program can use them.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94008" y="4153662"/>
            <a:ext cx="569214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uncertainty enters: </a:t>
            </a:r>
            <a:r>
              <a:rPr lang="en-US" sz="22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Facts are incomplete or only mostly true.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5760720"/>
            <a:ext cx="8165135" cy="3154680"/>
            <a:chOff x="0" y="0"/>
            <a:chExt cx="10886846" cy="4206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37310" y="6686550"/>
            <a:ext cx="1303020" cy="1303020"/>
            <a:chOff x="0" y="0"/>
            <a:chExt cx="173736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37005" y="6986245"/>
            <a:ext cx="703631" cy="703631"/>
            <a:chOff x="0" y="0"/>
            <a:chExt cx="938174" cy="938174"/>
          </a:xfrm>
        </p:grpSpPr>
        <p:sp>
          <p:nvSpPr>
            <p:cNvPr name="Freeform 42" id="42" descr="Planning"/>
            <p:cNvSpPr/>
            <p:nvPr/>
          </p:nvSpPr>
          <p:spPr>
            <a:xfrm flipH="false" flipV="false" rot="0">
              <a:off x="0" y="0"/>
              <a:ext cx="938149" cy="938149"/>
            </a:xfrm>
            <a:custGeom>
              <a:avLst/>
              <a:gdLst/>
              <a:ahLst/>
              <a:cxnLst/>
              <a:rect r="r" b="b" t="t" l="l"/>
              <a:pathLst>
                <a:path h="938149" w="938149">
                  <a:moveTo>
                    <a:pt x="0" y="0"/>
                  </a:moveTo>
                  <a:lnTo>
                    <a:pt x="938149" y="0"/>
                  </a:lnTo>
                  <a:lnTo>
                    <a:pt x="938149" y="938149"/>
                  </a:lnTo>
                  <a:lnTo>
                    <a:pt x="0" y="9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3017520" y="6043422"/>
            <a:ext cx="56921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Planning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017520" y="6691122"/>
            <a:ext cx="569214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Choose actions to reach goals over time.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17520" y="7651242"/>
            <a:ext cx="569214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uncertainty enters: </a:t>
            </a:r>
            <a:r>
              <a:rPr lang="en-US" sz="22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Actions have unpredictable effects and the world changes.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278017" y="5739289"/>
            <a:ext cx="8207997" cy="3197542"/>
            <a:chOff x="0" y="0"/>
            <a:chExt cx="10943996" cy="42633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44098" cy="4263390"/>
            </a:xfrm>
            <a:custGeom>
              <a:avLst/>
              <a:gdLst/>
              <a:ahLst/>
              <a:cxnLst/>
              <a:rect r="r" b="b" t="t" l="l"/>
              <a:pathLst>
                <a:path h="4263390" w="10944098">
                  <a:moveTo>
                    <a:pt x="0" y="185420"/>
                  </a:moveTo>
                  <a:cubicBezTo>
                    <a:pt x="0" y="82931"/>
                    <a:pt x="82931" y="0"/>
                    <a:pt x="185420" y="0"/>
                  </a:cubicBezTo>
                  <a:lnTo>
                    <a:pt x="10758678" y="0"/>
                  </a:lnTo>
                  <a:cubicBezTo>
                    <a:pt x="10861040" y="0"/>
                    <a:pt x="10944098" y="82931"/>
                    <a:pt x="10944098" y="185420"/>
                  </a:cubicBezTo>
                  <a:lnTo>
                    <a:pt x="10944098" y="4077970"/>
                  </a:lnTo>
                  <a:cubicBezTo>
                    <a:pt x="10944098" y="4180332"/>
                    <a:pt x="10861167" y="4263390"/>
                    <a:pt x="10758678" y="4263390"/>
                  </a:cubicBezTo>
                  <a:lnTo>
                    <a:pt x="185420" y="4263390"/>
                  </a:lnTo>
                  <a:cubicBezTo>
                    <a:pt x="82931" y="4263390"/>
                    <a:pt x="0" y="4180459"/>
                    <a:pt x="0" y="4077970"/>
                  </a:cubicBezTo>
                  <a:close/>
                </a:path>
              </a:pathLst>
            </a:custGeom>
            <a:solidFill>
              <a:srgbClr val="F3F4F6"/>
            </a:solidFill>
            <a:ln w="4286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813798" y="6686550"/>
            <a:ext cx="1303020" cy="1303020"/>
            <a:chOff x="0" y="0"/>
            <a:chExt cx="1737360" cy="1737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13493" y="6986245"/>
            <a:ext cx="703631" cy="703631"/>
            <a:chOff x="0" y="0"/>
            <a:chExt cx="938174" cy="938174"/>
          </a:xfrm>
        </p:grpSpPr>
        <p:sp>
          <p:nvSpPr>
            <p:cNvPr name="Freeform 51" id="51" descr="Reasoning under uncertainty"/>
            <p:cNvSpPr/>
            <p:nvPr/>
          </p:nvSpPr>
          <p:spPr>
            <a:xfrm flipH="false" flipV="false" rot="0">
              <a:off x="0" y="0"/>
              <a:ext cx="938149" cy="938149"/>
            </a:xfrm>
            <a:custGeom>
              <a:avLst/>
              <a:gdLst/>
              <a:ahLst/>
              <a:cxnLst/>
              <a:rect r="r" b="b" t="t" l="l"/>
              <a:pathLst>
                <a:path h="938149" w="938149">
                  <a:moveTo>
                    <a:pt x="0" y="0"/>
                  </a:moveTo>
                  <a:lnTo>
                    <a:pt x="938149" y="0"/>
                  </a:lnTo>
                  <a:lnTo>
                    <a:pt x="938149" y="938149"/>
                  </a:lnTo>
                  <a:lnTo>
                    <a:pt x="0" y="938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1494008" y="6043422"/>
            <a:ext cx="56921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Reasoning under uncertainty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94008" y="6691122"/>
            <a:ext cx="569214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Draw sound conclusions from partial, noisy information.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494008" y="7651242"/>
            <a:ext cx="569214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 uncertainty enters: </a:t>
            </a:r>
            <a:r>
              <a:rPr lang="en-US" sz="22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Needs probability or fuzzy tools: the rest of this course.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2 · WHY UNCERTAINTY MATTERS IN 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Uncertainty has four common sources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1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2400300"/>
            <a:ext cx="3909060" cy="5760720"/>
            <a:chOff x="0" y="0"/>
            <a:chExt cx="5212080" cy="7680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20240" y="3051810"/>
            <a:ext cx="1714500" cy="1714500"/>
            <a:chOff x="0" y="0"/>
            <a:chExt cx="22860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314575" y="3446145"/>
            <a:ext cx="925830" cy="925830"/>
            <a:chOff x="0" y="0"/>
            <a:chExt cx="1234440" cy="1234440"/>
          </a:xfrm>
        </p:grpSpPr>
        <p:sp>
          <p:nvSpPr>
            <p:cNvPr name="Freeform 21" id="21" descr="Noisy sensors"/>
            <p:cNvSpPr/>
            <p:nvPr/>
          </p:nvSpPr>
          <p:spPr>
            <a:xfrm flipH="false" flipV="false" rot="0">
              <a:off x="0" y="0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5143500"/>
            <a:ext cx="3360420" cy="1165860"/>
            <a:chOff x="0" y="0"/>
            <a:chExt cx="448056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805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4805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Noisy sensors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65860" y="6389370"/>
            <a:ext cx="322326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Two thermometers give two readings for the same patient.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067148" y="2400300"/>
            <a:ext cx="3909060" cy="5760720"/>
            <a:chOff x="0" y="0"/>
            <a:chExt cx="5212080" cy="7680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164428" y="3051810"/>
            <a:ext cx="1714500" cy="1714500"/>
            <a:chOff x="0" y="0"/>
            <a:chExt cx="2286000" cy="228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58763" y="3446145"/>
            <a:ext cx="925830" cy="925830"/>
            <a:chOff x="0" y="0"/>
            <a:chExt cx="1234440" cy="1234440"/>
          </a:xfrm>
        </p:grpSpPr>
        <p:sp>
          <p:nvSpPr>
            <p:cNvPr name="Freeform 31" id="31" descr="Human language"/>
            <p:cNvSpPr/>
            <p:nvPr/>
          </p:nvSpPr>
          <p:spPr>
            <a:xfrm flipH="false" flipV="false" rot="0">
              <a:off x="0" y="0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41468" y="5143500"/>
            <a:ext cx="3360420" cy="1165860"/>
            <a:chOff x="0" y="0"/>
            <a:chExt cx="448056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805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4805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Human language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410048" y="6389370"/>
            <a:ext cx="322326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“High risk” means different things to different doctors.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11335" y="2400300"/>
            <a:ext cx="3909060" cy="5760720"/>
            <a:chOff x="0" y="0"/>
            <a:chExt cx="5212080" cy="7680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08615" y="3051810"/>
            <a:ext cx="1714500" cy="1714500"/>
            <a:chOff x="0" y="0"/>
            <a:chExt cx="2286000" cy="2286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2950" y="3446145"/>
            <a:ext cx="925830" cy="925830"/>
            <a:chOff x="0" y="0"/>
            <a:chExt cx="1234440" cy="1234440"/>
          </a:xfrm>
        </p:grpSpPr>
        <p:sp>
          <p:nvSpPr>
            <p:cNvPr name="Freeform 41" id="41" descr="Incomplete knowledge"/>
            <p:cNvSpPr/>
            <p:nvPr/>
          </p:nvSpPr>
          <p:spPr>
            <a:xfrm flipH="false" flipV="false" rot="0">
              <a:off x="0" y="0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85655" y="5143500"/>
            <a:ext cx="3360420" cy="1165860"/>
            <a:chOff x="0" y="0"/>
            <a:chExt cx="448056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805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4805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Incomplete knowledge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654235" y="6389370"/>
            <a:ext cx="322326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 test was never ordered; the cause is only partly known.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555523" y="2400300"/>
            <a:ext cx="3909060" cy="5760720"/>
            <a:chOff x="0" y="0"/>
            <a:chExt cx="5212080" cy="7680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52803" y="3051810"/>
            <a:ext cx="1714500" cy="1714500"/>
            <a:chOff x="0" y="0"/>
            <a:chExt cx="2286000" cy="2286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1143000"/>
                  </a:moveTo>
                  <a:cubicBezTo>
                    <a:pt x="0" y="511683"/>
                    <a:pt x="511683" y="0"/>
                    <a:pt x="1143000" y="0"/>
                  </a:cubicBezTo>
                  <a:cubicBezTo>
                    <a:pt x="1774317" y="0"/>
                    <a:pt x="2286000" y="511683"/>
                    <a:pt x="2286000" y="1143000"/>
                  </a:cubicBezTo>
                  <a:cubicBezTo>
                    <a:pt x="2286000" y="1774317"/>
                    <a:pt x="1774317" y="2286000"/>
                    <a:pt x="1143000" y="2286000"/>
                  </a:cubicBezTo>
                  <a:cubicBezTo>
                    <a:pt x="511683" y="2286000"/>
                    <a:pt x="0" y="1774317"/>
                    <a:pt x="0" y="114300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047138" y="3446145"/>
            <a:ext cx="925830" cy="925830"/>
            <a:chOff x="0" y="0"/>
            <a:chExt cx="1234440" cy="1234440"/>
          </a:xfrm>
        </p:grpSpPr>
        <p:sp>
          <p:nvSpPr>
            <p:cNvPr name="Freeform 51" id="51" descr="A changing world"/>
            <p:cNvSpPr/>
            <p:nvPr/>
          </p:nvSpPr>
          <p:spPr>
            <a:xfrm flipH="false" flipV="false" rot="0">
              <a:off x="0" y="0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829843" y="5143500"/>
            <a:ext cx="3360420" cy="1165860"/>
            <a:chOff x="0" y="0"/>
            <a:chExt cx="4480560" cy="1554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805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4805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changing world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898423" y="6389370"/>
            <a:ext cx="322326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Patients and hospitals change, so last year’s model drifts.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6770"/>
            <a:ext cx="16641623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These four are different problems; Part 3 separates them because each needs a different tool.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2 · WHY UNCERTAINTY MATTERS IN 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Ignoring uncertainty makes a system confident and wrong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1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Calibration finding: Guo et al. [6]. Output cards are illustrative, not real data.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331720"/>
            <a:ext cx="8023860" cy="4183380"/>
            <a:chOff x="0" y="0"/>
            <a:chExt cx="10698480" cy="5577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98480" cy="5577840"/>
            </a:xfrm>
            <a:custGeom>
              <a:avLst/>
              <a:gdLst/>
              <a:ahLst/>
              <a:cxnLst/>
              <a:rect r="r" b="b" t="t" l="l"/>
              <a:pathLst>
                <a:path h="557784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5394960"/>
                  </a:lnTo>
                  <a:cubicBezTo>
                    <a:pt x="10698480" y="5495925"/>
                    <a:pt x="10616565" y="5577840"/>
                    <a:pt x="10515600" y="5577840"/>
                  </a:cubicBezTo>
                  <a:lnTo>
                    <a:pt x="182880" y="5577840"/>
                  </a:lnTo>
                  <a:cubicBezTo>
                    <a:pt x="81915" y="5577840"/>
                    <a:pt x="0" y="5495925"/>
                    <a:pt x="0" y="539496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4440" y="2530983"/>
            <a:ext cx="68580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POINT ANSWER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440" y="3282315"/>
            <a:ext cx="713232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Diabetes: YES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440" y="4585335"/>
            <a:ext cx="713232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Confidence: 99 %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4440" y="5722620"/>
            <a:ext cx="71323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 range, no warning, no missing-data flag.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40723" y="2331720"/>
            <a:ext cx="8023860" cy="4183380"/>
            <a:chOff x="0" y="0"/>
            <a:chExt cx="10698480" cy="5577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8480" cy="5577840"/>
            </a:xfrm>
            <a:custGeom>
              <a:avLst/>
              <a:gdLst/>
              <a:ahLst/>
              <a:cxnLst/>
              <a:rect r="r" b="b" t="t" l="l"/>
              <a:pathLst>
                <a:path h="5577840" w="1069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15600" y="0"/>
                  </a:lnTo>
                  <a:cubicBezTo>
                    <a:pt x="10616565" y="0"/>
                    <a:pt x="10698480" y="81915"/>
                    <a:pt x="10698480" y="182880"/>
                  </a:cubicBezTo>
                  <a:lnTo>
                    <a:pt x="10698480" y="5394960"/>
                  </a:lnTo>
                  <a:cubicBezTo>
                    <a:pt x="10698480" y="5495925"/>
                    <a:pt x="10616565" y="5577840"/>
                    <a:pt x="10515600" y="5577840"/>
                  </a:cubicBezTo>
                  <a:lnTo>
                    <a:pt x="182880" y="5577840"/>
                  </a:lnTo>
                  <a:cubicBezTo>
                    <a:pt x="81915" y="5577840"/>
                    <a:pt x="0" y="5495925"/>
                    <a:pt x="0" y="5394960"/>
                  </a:cubicBezTo>
                  <a:close/>
                </a:path>
              </a:pathLst>
            </a:custGeom>
            <a:solidFill>
              <a:srgbClr val="D9F0E8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52203" y="2530983"/>
            <a:ext cx="68580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ANSWER WITH UNCERTAINTY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52203" y="3145155"/>
            <a:ext cx="713232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Risk 0.62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52203" y="4457700"/>
            <a:ext cx="7132320" cy="219456"/>
            <a:chOff x="0" y="0"/>
            <a:chExt cx="9509760" cy="292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292608"/>
            </a:xfrm>
            <a:custGeom>
              <a:avLst/>
              <a:gdLst/>
              <a:ahLst/>
              <a:cxnLst/>
              <a:rect r="r" b="b" t="t" l="l"/>
              <a:pathLst>
                <a:path h="2926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D1D5D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847777" y="4457700"/>
            <a:ext cx="2852928" cy="219456"/>
            <a:chOff x="0" y="0"/>
            <a:chExt cx="3803904" cy="29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03904" cy="292608"/>
            </a:xfrm>
            <a:custGeom>
              <a:avLst/>
              <a:gdLst/>
              <a:ahLst/>
              <a:cxnLst/>
              <a:rect r="r" b="b" t="t" l="l"/>
              <a:pathLst>
                <a:path h="292608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09E7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68501" y="4361688"/>
            <a:ext cx="411480" cy="411480"/>
            <a:chOff x="0" y="0"/>
            <a:chExt cx="54864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367717" y="4752975"/>
            <a:ext cx="9601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0.42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220645" y="4752975"/>
            <a:ext cx="9601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0.82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59257" y="4752975"/>
            <a:ext cx="192024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plausible range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52203" y="5360670"/>
            <a:ext cx="71323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Glucose not recorded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Suggest: repeat the test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2960" y="6604635"/>
            <a:ext cx="1664162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Illustrative example, not real data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7310628"/>
            <a:ext cx="466344" cy="466344"/>
            <a:chOff x="0" y="0"/>
            <a:chExt cx="621792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7310628"/>
            <a:ext cx="466344" cy="466344"/>
            <a:chOff x="0" y="0"/>
            <a:chExt cx="621792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21792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8760" y="7269480"/>
            <a:ext cx="9491139" cy="576072"/>
            <a:chOff x="0" y="0"/>
            <a:chExt cx="12654852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654852" cy="768096"/>
            </a:xfrm>
            <a:custGeom>
              <a:avLst/>
              <a:gdLst/>
              <a:ahLst/>
              <a:cxnLst/>
              <a:rect r="r" b="b" t="t" l="l"/>
              <a:pathLst>
                <a:path h="768096" w="12654852">
                  <a:moveTo>
                    <a:pt x="0" y="0"/>
                  </a:moveTo>
                  <a:lnTo>
                    <a:pt x="12654852" y="0"/>
                  </a:lnTo>
                  <a:lnTo>
                    <a:pt x="1265485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9689" r="-68112" b="-48968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2654852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classifier must answer, even when the input is unlike its training data.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996428"/>
            <a:ext cx="466344" cy="466344"/>
            <a:chOff x="0" y="0"/>
            <a:chExt cx="621792" cy="621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996428"/>
            <a:ext cx="466344" cy="466344"/>
            <a:chOff x="0" y="0"/>
            <a:chExt cx="621792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21792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8760" y="7955280"/>
            <a:ext cx="15955823" cy="576072"/>
            <a:chOff x="0" y="0"/>
            <a:chExt cx="21274430" cy="7680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274430" cy="768096"/>
            </a:xfrm>
            <a:custGeom>
              <a:avLst/>
              <a:gdLst/>
              <a:ahLst/>
              <a:cxnLst/>
              <a:rect r="r" b="b" t="t" l="l"/>
              <a:pathLst>
                <a:path h="768096" w="21274430">
                  <a:moveTo>
                    <a:pt x="0" y="0"/>
                  </a:moveTo>
                  <a:lnTo>
                    <a:pt x="21274430" y="0"/>
                  </a:lnTo>
                  <a:lnTo>
                    <a:pt x="212744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9689" r="0" b="-48968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127443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model’s score is not automatically a calibrated probability; modern deep networks are often over-confident [6].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8682228"/>
            <a:ext cx="466344" cy="466344"/>
            <a:chOff x="0" y="0"/>
            <a:chExt cx="621792" cy="621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8682228"/>
            <a:ext cx="466344" cy="466344"/>
            <a:chOff x="0" y="0"/>
            <a:chExt cx="621792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21792" cy="669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08760" y="8641080"/>
            <a:ext cx="9815326" cy="576072"/>
            <a:chOff x="0" y="0"/>
            <a:chExt cx="13087102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087102" cy="768096"/>
            </a:xfrm>
            <a:custGeom>
              <a:avLst/>
              <a:gdLst/>
              <a:ahLst/>
              <a:cxnLst/>
              <a:rect r="r" b="b" t="t" l="l"/>
              <a:pathLst>
                <a:path h="768096" w="13087102">
                  <a:moveTo>
                    <a:pt x="0" y="0"/>
                  </a:moveTo>
                  <a:lnTo>
                    <a:pt x="13087102" y="0"/>
                  </a:lnTo>
                  <a:lnTo>
                    <a:pt x="13087102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9689" r="-62560" b="-48968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3087102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user then trusts a number that hides what the system does not know.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2 · CASE STUDY · TEMPE, ARIZONA, 18 MARCH 2018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Case study: a self-driving car and an object it could not classify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1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Sources: NTSB, Highway Accident Report NTSB/HAR-19/03, adopted 19 Nov. 2019 [7]; NTSB Preliminary Report HWY18MH010, 2018 [8].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AutoShape 19" id="19"/>
          <p:cNvSpPr/>
          <p:nvPr/>
        </p:nvSpPr>
        <p:spPr>
          <a:xfrm rot="12120">
            <a:off x="2376449" y="2564321"/>
            <a:ext cx="13534654" cy="0"/>
          </a:xfrm>
          <a:prstGeom prst="line">
            <a:avLst/>
          </a:prstGeom>
          <a:ln cap="rnd" w="28575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2098548" y="2276856"/>
            <a:ext cx="603504" cy="603504"/>
            <a:chOff x="0" y="0"/>
            <a:chExt cx="804672" cy="80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98548" y="2276856"/>
            <a:ext cx="603504" cy="603504"/>
            <a:chOff x="0" y="0"/>
            <a:chExt cx="804672" cy="804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3086100"/>
            <a:ext cx="3154680" cy="3634740"/>
            <a:chOff x="0" y="0"/>
            <a:chExt cx="4206240" cy="4846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06240" cy="4846320"/>
            </a:xfrm>
            <a:custGeom>
              <a:avLst/>
              <a:gdLst/>
              <a:ahLst/>
              <a:cxnLst/>
              <a:rect r="r" b="b" t="t" l="l"/>
              <a:pathLst>
                <a:path h="48463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4663440"/>
                  </a:lnTo>
                  <a:cubicBezTo>
                    <a:pt x="4206240" y="4764405"/>
                    <a:pt x="4124325" y="4846320"/>
                    <a:pt x="4023360" y="4846320"/>
                  </a:cubicBezTo>
                  <a:lnTo>
                    <a:pt x="182880" y="4846320"/>
                  </a:lnTo>
                  <a:cubicBezTo>
                    <a:pt x="81915" y="4846320"/>
                    <a:pt x="0" y="4764405"/>
                    <a:pt x="0" y="46634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3223260"/>
            <a:ext cx="2743200" cy="850392"/>
            <a:chOff x="0" y="0"/>
            <a:chExt cx="3657600" cy="1133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54" r="0" b="-128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6576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5.6 s before impact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4126230"/>
            <a:ext cx="274320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Radar and lidar first detect the pedestrian; the car is travelling at 43 mph.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202680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[7], [8]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470284" y="2276856"/>
            <a:ext cx="603504" cy="603504"/>
            <a:chOff x="0" y="0"/>
            <a:chExt cx="804672" cy="8046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70284" y="2276856"/>
            <a:ext cx="603504" cy="603504"/>
            <a:chOff x="0" y="0"/>
            <a:chExt cx="804672" cy="8046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194696" y="3086100"/>
            <a:ext cx="3154680" cy="3634740"/>
            <a:chOff x="0" y="0"/>
            <a:chExt cx="4206240" cy="48463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06240" cy="4846320"/>
            </a:xfrm>
            <a:custGeom>
              <a:avLst/>
              <a:gdLst/>
              <a:ahLst/>
              <a:cxnLst/>
              <a:rect r="r" b="b" t="t" l="l"/>
              <a:pathLst>
                <a:path h="48463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4663440"/>
                  </a:lnTo>
                  <a:cubicBezTo>
                    <a:pt x="4206240" y="4764405"/>
                    <a:pt x="4124325" y="4846320"/>
                    <a:pt x="4023360" y="4846320"/>
                  </a:cubicBezTo>
                  <a:lnTo>
                    <a:pt x="182880" y="4846320"/>
                  </a:lnTo>
                  <a:cubicBezTo>
                    <a:pt x="81915" y="4846320"/>
                    <a:pt x="0" y="4764405"/>
                    <a:pt x="0" y="46634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400436" y="3223260"/>
            <a:ext cx="2743200" cy="850392"/>
            <a:chOff x="0" y="0"/>
            <a:chExt cx="3657600" cy="1133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54" r="0" b="-128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6576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Repeated relabelling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4400436" y="4126230"/>
            <a:ext cx="274320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Unknown object, then vehicle, then bicycle, each with a different predicted path.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00436" y="6202680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[8]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842019" y="2276856"/>
            <a:ext cx="603504" cy="603504"/>
            <a:chOff x="0" y="0"/>
            <a:chExt cx="804672" cy="804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842019" y="2276856"/>
            <a:ext cx="603504" cy="603504"/>
            <a:chOff x="0" y="0"/>
            <a:chExt cx="804672" cy="8046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66431" y="3086100"/>
            <a:ext cx="3154680" cy="3634740"/>
            <a:chOff x="0" y="0"/>
            <a:chExt cx="4206240" cy="4846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0" cy="4846320"/>
            </a:xfrm>
            <a:custGeom>
              <a:avLst/>
              <a:gdLst/>
              <a:ahLst/>
              <a:cxnLst/>
              <a:rect r="r" b="b" t="t" l="l"/>
              <a:pathLst>
                <a:path h="48463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4663440"/>
                  </a:lnTo>
                  <a:cubicBezTo>
                    <a:pt x="4206240" y="4764405"/>
                    <a:pt x="4124325" y="4846320"/>
                    <a:pt x="4023360" y="4846320"/>
                  </a:cubicBezTo>
                  <a:lnTo>
                    <a:pt x="182880" y="4846320"/>
                  </a:lnTo>
                  <a:cubicBezTo>
                    <a:pt x="81915" y="4846320"/>
                    <a:pt x="0" y="4764405"/>
                    <a:pt x="0" y="46634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772171" y="3223260"/>
            <a:ext cx="2743200" cy="850392"/>
            <a:chOff x="0" y="0"/>
            <a:chExt cx="3657600" cy="11338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54" r="0" b="-1285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6576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Reset at each change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772171" y="4126230"/>
            <a:ext cx="274320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After a relabel, the tracking history was no longer used to predict the path.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772171" y="6202680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[7], pp. 12–13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213755" y="2276856"/>
            <a:ext cx="603504" cy="603504"/>
            <a:chOff x="0" y="0"/>
            <a:chExt cx="804672" cy="8046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213755" y="2276856"/>
            <a:ext cx="603504" cy="603504"/>
            <a:chOff x="0" y="0"/>
            <a:chExt cx="804672" cy="8046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938167" y="3086100"/>
            <a:ext cx="3154680" cy="3634740"/>
            <a:chOff x="0" y="0"/>
            <a:chExt cx="4206240" cy="4846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06240" cy="4846320"/>
            </a:xfrm>
            <a:custGeom>
              <a:avLst/>
              <a:gdLst/>
              <a:ahLst/>
              <a:cxnLst/>
              <a:rect r="r" b="b" t="t" l="l"/>
              <a:pathLst>
                <a:path h="48463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4663440"/>
                  </a:lnTo>
                  <a:cubicBezTo>
                    <a:pt x="4206240" y="4764405"/>
                    <a:pt x="4124325" y="4846320"/>
                    <a:pt x="4023360" y="4846320"/>
                  </a:cubicBezTo>
                  <a:lnTo>
                    <a:pt x="182880" y="4846320"/>
                  </a:lnTo>
                  <a:cubicBezTo>
                    <a:pt x="81915" y="4846320"/>
                    <a:pt x="0" y="4764405"/>
                    <a:pt x="0" y="46634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143907" y="3223260"/>
            <a:ext cx="2743200" cy="850392"/>
            <a:chOff x="0" y="0"/>
            <a:chExt cx="3657600" cy="11338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54" r="0" b="-1285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6576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Never a pedestrian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143907" y="4126230"/>
            <a:ext cx="274320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never classified her as a pedestrian; its design did not consider jaywalking.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143907" y="6202680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[7], p. 16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5585491" y="2276856"/>
            <a:ext cx="603504" cy="603504"/>
            <a:chOff x="0" y="0"/>
            <a:chExt cx="804672" cy="8046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585491" y="2276856"/>
            <a:ext cx="603504" cy="603504"/>
            <a:chOff x="0" y="0"/>
            <a:chExt cx="804672" cy="8046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09903" y="3086100"/>
            <a:ext cx="3154680" cy="3634740"/>
            <a:chOff x="0" y="0"/>
            <a:chExt cx="4206240" cy="48463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06240" cy="4846320"/>
            </a:xfrm>
            <a:custGeom>
              <a:avLst/>
              <a:gdLst/>
              <a:ahLst/>
              <a:cxnLst/>
              <a:rect r="r" b="b" t="t" l="l"/>
              <a:pathLst>
                <a:path h="48463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4663440"/>
                  </a:lnTo>
                  <a:cubicBezTo>
                    <a:pt x="4206240" y="4764405"/>
                    <a:pt x="4124325" y="4846320"/>
                    <a:pt x="4023360" y="4846320"/>
                  </a:cubicBezTo>
                  <a:lnTo>
                    <a:pt x="182880" y="4846320"/>
                  </a:lnTo>
                  <a:cubicBezTo>
                    <a:pt x="81915" y="4846320"/>
                    <a:pt x="0" y="4764405"/>
                    <a:pt x="0" y="46634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515643" y="3223260"/>
            <a:ext cx="2743200" cy="850392"/>
            <a:chOff x="0" y="0"/>
            <a:chExt cx="3657600" cy="11338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54" r="0" b="-1285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65760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1.3 s before impact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4515643" y="4126230"/>
            <a:ext cx="274320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Emergency braking judged necessary, but not enabled under computer control; operator not alerted.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4515643" y="6202680"/>
            <a:ext cx="27432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[8]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822960" y="6926580"/>
            <a:ext cx="16641623" cy="1165860"/>
            <a:chOff x="0" y="0"/>
            <a:chExt cx="22188830" cy="15544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88805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5925" y="0"/>
                  </a:lnTo>
                  <a:cubicBezTo>
                    <a:pt x="22106889" y="0"/>
                    <a:pt x="22188805" y="81915"/>
                    <a:pt x="22188805" y="182880"/>
                  </a:cubicBezTo>
                  <a:lnTo>
                    <a:pt x="22188805" y="1371600"/>
                  </a:lnTo>
                  <a:cubicBezTo>
                    <a:pt x="22188805" y="1472565"/>
                    <a:pt x="22106889" y="1554480"/>
                    <a:pt x="22005925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65860" y="6926580"/>
            <a:ext cx="15955823" cy="1165860"/>
            <a:chOff x="0" y="0"/>
            <a:chExt cx="21274430" cy="15544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27443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74430">
                  <a:moveTo>
                    <a:pt x="0" y="0"/>
                  </a:moveTo>
                  <a:lnTo>
                    <a:pt x="21274430" y="0"/>
                  </a:lnTo>
                  <a:lnTo>
                    <a:pt x="2127443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669" r="0" b="-21666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2127443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NTSB probable cause: </a:t>
              </a: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operator’s failure to monitor the road (visual distraction). The report also documents how the system handled the uncertain detection.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8229600"/>
            <a:ext cx="16641623" cy="548640"/>
            <a:chOff x="0" y="0"/>
            <a:chExt cx="2218883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18883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1029" r="0" b="-54102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2218883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4B55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reading: </a:t>
              </a:r>
              <a:r>
                <a:rPr lang="en-US" sz="28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uncertainty was reset, not carried forward, and there was no safe fallback.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822960" y="8799195"/>
            <a:ext cx="1664162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Related: a retinopathy AI in Thai clinics struggled with imperfect image quality [9].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3 · FOUR KINDS OF IMPERFECT INFORMATION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Four kinds of imperfect information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2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2263140"/>
            <a:ext cx="8165135" cy="3154680"/>
            <a:chOff x="0" y="0"/>
            <a:chExt cx="10886846" cy="4206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20" y="3086100"/>
            <a:ext cx="1508760" cy="1508760"/>
            <a:chOff x="0" y="0"/>
            <a:chExt cx="201168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04772" y="3387852"/>
            <a:ext cx="905256" cy="905256"/>
            <a:chOff x="0" y="0"/>
            <a:chExt cx="1207008" cy="1207008"/>
          </a:xfrm>
        </p:grpSpPr>
        <p:sp>
          <p:nvSpPr>
            <p:cNvPr name="Freeform 21" id="21" descr="Randomness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291840" y="2637663"/>
            <a:ext cx="54178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Randomness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91840" y="3403473"/>
            <a:ext cx="541782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outcome varies by chance.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91840" y="4410075"/>
            <a:ext cx="54178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Example: </a:t>
            </a:r>
            <a:r>
              <a:rPr lang="en-US" sz="25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A dice roll; tomorrow’s rain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99448" y="2263140"/>
            <a:ext cx="8165135" cy="3154680"/>
            <a:chOff x="0" y="0"/>
            <a:chExt cx="10886846" cy="4206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79508" y="3086100"/>
            <a:ext cx="1508760" cy="1508760"/>
            <a:chOff x="0" y="0"/>
            <a:chExt cx="2011680" cy="2011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81260" y="3387852"/>
            <a:ext cx="905256" cy="905256"/>
            <a:chOff x="0" y="0"/>
            <a:chExt cx="1207008" cy="1207008"/>
          </a:xfrm>
        </p:grpSpPr>
        <p:sp>
          <p:nvSpPr>
            <p:cNvPr name="Freeform 30" id="30" descr="Vagueness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768328" y="2637663"/>
            <a:ext cx="54178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Vagueness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68328" y="3403473"/>
            <a:ext cx="541782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concept has no sharp boundary.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68328" y="4410075"/>
            <a:ext cx="54178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Example: </a:t>
            </a:r>
            <a:r>
              <a:rPr lang="en-US" sz="25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“Tall”, “hot”, “high risk”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22960" y="5760720"/>
            <a:ext cx="8165135" cy="3154680"/>
            <a:chOff x="0" y="0"/>
            <a:chExt cx="10886846" cy="4206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03020" y="6583680"/>
            <a:ext cx="1508760" cy="1508760"/>
            <a:chOff x="0" y="0"/>
            <a:chExt cx="2011680" cy="2011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04772" y="6885432"/>
            <a:ext cx="905256" cy="905256"/>
            <a:chOff x="0" y="0"/>
            <a:chExt cx="1207008" cy="1207008"/>
          </a:xfrm>
        </p:grpSpPr>
        <p:sp>
          <p:nvSpPr>
            <p:cNvPr name="Freeform 39" id="39" descr="Imprecision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3291840" y="6135243"/>
            <a:ext cx="54178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Imprecision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91840" y="6901053"/>
            <a:ext cx="541782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value is known only within a range.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291840" y="7907655"/>
            <a:ext cx="54178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Example: </a:t>
            </a:r>
            <a:r>
              <a:rPr lang="en-US" sz="25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A sensor reading of 30 ± 2 °C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99448" y="5760720"/>
            <a:ext cx="8165135" cy="3154680"/>
            <a:chOff x="0" y="0"/>
            <a:chExt cx="10886846" cy="4206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86822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4023360"/>
                  </a:lnTo>
                  <a:cubicBezTo>
                    <a:pt x="10886822" y="4124325"/>
                    <a:pt x="10804906" y="4206240"/>
                    <a:pt x="10703941" y="4206240"/>
                  </a:cubicBezTo>
                  <a:lnTo>
                    <a:pt x="182880" y="4206240"/>
                  </a:lnTo>
                  <a:cubicBezTo>
                    <a:pt x="81915" y="4206240"/>
                    <a:pt x="0" y="4124325"/>
                    <a:pt x="0" y="40233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779508" y="6583680"/>
            <a:ext cx="1508760" cy="1508760"/>
            <a:chOff x="0" y="0"/>
            <a:chExt cx="2011680" cy="2011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081260" y="6885432"/>
            <a:ext cx="905256" cy="905256"/>
            <a:chOff x="0" y="0"/>
            <a:chExt cx="1207008" cy="1207008"/>
          </a:xfrm>
        </p:grpSpPr>
        <p:sp>
          <p:nvSpPr>
            <p:cNvPr name="Freeform 48" id="48" descr="Missing data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768328" y="6135243"/>
            <a:ext cx="54178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Missing data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768328" y="6901053"/>
            <a:ext cx="541782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value is not recorded at all.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768328" y="7907655"/>
            <a:ext cx="54178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Example: </a:t>
            </a:r>
            <a:r>
              <a:rPr lang="en-US" sz="25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An empty field in a patient record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3 · FOUR KINDS OF IMPERFECT INFORMATION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One patient record contains all four kinds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2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Illustrative record created for this talk; the empty insulin field mirrors the dataset used in the demo.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960" y="2000250"/>
            <a:ext cx="16641623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Patient A, diabetes screening visit (illustrative record)</a:t>
            </a:r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822960" y="2743200"/>
          <a:ext cx="16611600" cy="5772150"/>
        </p:xfrm>
        <a:graphic>
          <a:graphicData uri="http://schemas.openxmlformats.org/drawingml/2006/table">
            <a:tbl>
              <a:tblPr/>
              <a:tblGrid>
                <a:gridCol w="2543933"/>
                <a:gridCol w="4923559"/>
                <a:gridCol w="3495783"/>
                <a:gridCol w="5648325"/>
              </a:tblGrid>
              <a:tr h="760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Kind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Example in Patient A’s record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is uncertain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Fixed by measuring more or better?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1252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Randomness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Will A develop diabetes within five years? Risk estimate: 20 %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outcome itself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No. Even with perfect data the outcome stays a matter of chance.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2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Vagueness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 A “high risk”?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Where “high” begins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No. A better instrument does not define “high”; a definition or a degree of membership does.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2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Imprecision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A’s temperature is 37.4 ± 0.3 °C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exact value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Partly. A better instrument narrows the range, but never to zero.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2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Missing data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A’s insulin field is empty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Whether a usable value exists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Yes, if the test can still be done; otherwise it must be handled (Part 7).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4 · ALEATORIC VS EPISTEMIC UNCERTAINTY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Two types of uncertainty: chance in the world, and gaps in our knowledge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2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Definitions: Hüllermeier and Waegeman [10].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263140"/>
            <a:ext cx="8165135" cy="6789420"/>
            <a:chOff x="0" y="0"/>
            <a:chExt cx="10886846" cy="9052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86822" cy="9052560"/>
            </a:xfrm>
            <a:custGeom>
              <a:avLst/>
              <a:gdLst/>
              <a:ahLst/>
              <a:cxnLst/>
              <a:rect r="r" b="b" t="t" l="l"/>
              <a:pathLst>
                <a:path h="905256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8869680"/>
                  </a:lnTo>
                  <a:cubicBezTo>
                    <a:pt x="10886822" y="8970645"/>
                    <a:pt x="10804906" y="9052560"/>
                    <a:pt x="10703941" y="9052560"/>
                  </a:cubicBezTo>
                  <a:lnTo>
                    <a:pt x="182880" y="9052560"/>
                  </a:lnTo>
                  <a:cubicBezTo>
                    <a:pt x="81915" y="9052560"/>
                    <a:pt x="0" y="8970645"/>
                    <a:pt x="0" y="88696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2606040"/>
            <a:ext cx="4937760" cy="960120"/>
            <a:chOff x="0" y="0"/>
            <a:chExt cx="6583680" cy="128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0800" y="0"/>
                  </a:lnTo>
                  <a:cubicBezTo>
                    <a:pt x="6501765" y="0"/>
                    <a:pt x="6583680" y="81915"/>
                    <a:pt x="6583680" y="182880"/>
                  </a:cubicBezTo>
                  <a:lnTo>
                    <a:pt x="6583680" y="1097280"/>
                  </a:lnTo>
                  <a:cubicBezTo>
                    <a:pt x="6583680" y="1198245"/>
                    <a:pt x="6501765" y="1280160"/>
                    <a:pt x="6400800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56B4E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2606040"/>
            <a:ext cx="4937760" cy="960120"/>
            <a:chOff x="0" y="0"/>
            <a:chExt cx="658368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583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Aleatoric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98030" y="2503170"/>
            <a:ext cx="1165860" cy="1165860"/>
            <a:chOff x="0" y="0"/>
            <a:chExt cx="15544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56B4E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354519" y="2759659"/>
            <a:ext cx="652882" cy="652882"/>
            <a:chOff x="0" y="0"/>
            <a:chExt cx="870509" cy="870509"/>
          </a:xfrm>
        </p:grpSpPr>
        <p:sp>
          <p:nvSpPr>
            <p:cNvPr name="Freeform 29" id="29" descr="Aleatoric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34440" y="388048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440" y="4194810"/>
            <a:ext cx="733806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Variability built into the 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4440" y="497776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MORE DATA?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440" y="5292090"/>
            <a:ext cx="733806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Does not remove it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4440" y="607504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MEDICAL EXAMPLE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4440" y="6389370"/>
            <a:ext cx="7338060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Two patients with identical glucose, age and BMI respond differently to the same treatment.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4440" y="785812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WORD ORIGIN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4440" y="8172450"/>
            <a:ext cx="733806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Latin alea, a die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99448" y="2263140"/>
            <a:ext cx="8165135" cy="6789420"/>
            <a:chOff x="0" y="0"/>
            <a:chExt cx="10886846" cy="9052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86822" cy="9052560"/>
            </a:xfrm>
            <a:custGeom>
              <a:avLst/>
              <a:gdLst/>
              <a:ahLst/>
              <a:cxnLst/>
              <a:rect r="r" b="b" t="t" l="l"/>
              <a:pathLst>
                <a:path h="9052560" w="1088682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03941" y="0"/>
                  </a:lnTo>
                  <a:cubicBezTo>
                    <a:pt x="10804906" y="0"/>
                    <a:pt x="10886822" y="81915"/>
                    <a:pt x="10886822" y="182880"/>
                  </a:cubicBezTo>
                  <a:lnTo>
                    <a:pt x="10886822" y="8869680"/>
                  </a:lnTo>
                  <a:cubicBezTo>
                    <a:pt x="10886822" y="8970645"/>
                    <a:pt x="10804906" y="9052560"/>
                    <a:pt x="10703941" y="9052560"/>
                  </a:cubicBezTo>
                  <a:lnTo>
                    <a:pt x="182880" y="9052560"/>
                  </a:lnTo>
                  <a:cubicBezTo>
                    <a:pt x="81915" y="9052560"/>
                    <a:pt x="0" y="8970645"/>
                    <a:pt x="0" y="88696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42348" y="2606040"/>
            <a:ext cx="4937760" cy="960120"/>
            <a:chOff x="0" y="0"/>
            <a:chExt cx="658368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0800" y="0"/>
                  </a:lnTo>
                  <a:cubicBezTo>
                    <a:pt x="6501765" y="0"/>
                    <a:pt x="6583680" y="81915"/>
                    <a:pt x="6583680" y="182880"/>
                  </a:cubicBezTo>
                  <a:lnTo>
                    <a:pt x="6583680" y="1097280"/>
                  </a:lnTo>
                  <a:cubicBezTo>
                    <a:pt x="6583680" y="1198245"/>
                    <a:pt x="6501765" y="1280160"/>
                    <a:pt x="6400800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CC79A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42348" y="2606040"/>
            <a:ext cx="4937760" cy="960120"/>
            <a:chOff x="0" y="0"/>
            <a:chExt cx="658368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5836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Epistemic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574518" y="2503170"/>
            <a:ext cx="1165860" cy="1165860"/>
            <a:chOff x="0" y="0"/>
            <a:chExt cx="155448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C79A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831007" y="2759659"/>
            <a:ext cx="652882" cy="652882"/>
            <a:chOff x="0" y="0"/>
            <a:chExt cx="870509" cy="870509"/>
          </a:xfrm>
        </p:grpSpPr>
        <p:sp>
          <p:nvSpPr>
            <p:cNvPr name="Freeform 48" id="48" descr="Epistemic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710928" y="388048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10928" y="4194810"/>
            <a:ext cx="733806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Lack of knowledge or data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10928" y="497776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MORE DATA?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10928" y="5292090"/>
            <a:ext cx="733806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reduce it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710928" y="607504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MEDICAL EXAMPLE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10928" y="6389370"/>
            <a:ext cx="7338060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model has seen only a handful of patients over 70, so its estimate for them is shaky.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10928" y="7858125"/>
            <a:ext cx="726948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WORD ORIGIN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10928" y="8172450"/>
            <a:ext cx="733806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Greek episteme, knowledge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4 · ALEATORIC VS EPISTEMIC UNCERTAINTY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More data shrinks model doubt, but not noise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2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Simulated data; own computation (demo notebook, Part C, seed 405). Concepts: Hüllermeier and Waegeman [10].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960" y="1789748"/>
            <a:ext cx="16641623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Simulated data: x = today’s fasting glucose, y = next month’s value; the same straight-line model is fitted on 20, 200 and 2,000 patients.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3017520"/>
            <a:ext cx="10012680" cy="6182268"/>
            <a:chOff x="0" y="0"/>
            <a:chExt cx="13350240" cy="8243024"/>
          </a:xfrm>
        </p:grpSpPr>
        <p:sp>
          <p:nvSpPr>
            <p:cNvPr name="Freeform 21" id="21" descr="Four panels: a straight-line model refitted on 20, 200 and 2000 simulated patients, and a chart showing model spread shrinking while noise stays near 3"/>
            <p:cNvSpPr/>
            <p:nvPr/>
          </p:nvSpPr>
          <p:spPr>
            <a:xfrm flipH="false" flipV="false" rot="0">
              <a:off x="0" y="0"/>
              <a:ext cx="13350239" cy="8243062"/>
            </a:xfrm>
            <a:custGeom>
              <a:avLst/>
              <a:gdLst/>
              <a:ahLst/>
              <a:cxnLst/>
              <a:rect r="r" b="b" t="t" l="l"/>
              <a:pathLst>
                <a:path h="8243062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243062"/>
                  </a:lnTo>
                  <a:lnTo>
                    <a:pt x="0" y="8243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223307" y="2993708"/>
            <a:ext cx="6265088" cy="2242185"/>
            <a:chOff x="0" y="0"/>
            <a:chExt cx="8353450" cy="29895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53425" cy="2989580"/>
            </a:xfrm>
            <a:custGeom>
              <a:avLst/>
              <a:gdLst/>
              <a:ahLst/>
              <a:cxnLst/>
              <a:rect r="r" b="b" t="t" l="l"/>
              <a:pathLst>
                <a:path h="2989580" w="8353425">
                  <a:moveTo>
                    <a:pt x="0" y="186817"/>
                  </a:moveTo>
                  <a:cubicBezTo>
                    <a:pt x="0" y="83693"/>
                    <a:pt x="83693" y="0"/>
                    <a:pt x="186817" y="0"/>
                  </a:cubicBezTo>
                  <a:lnTo>
                    <a:pt x="8166608" y="0"/>
                  </a:lnTo>
                  <a:cubicBezTo>
                    <a:pt x="8269859" y="0"/>
                    <a:pt x="8353425" y="83693"/>
                    <a:pt x="8353425" y="186817"/>
                  </a:cubicBezTo>
                  <a:lnTo>
                    <a:pt x="8353425" y="2802763"/>
                  </a:lnTo>
                  <a:cubicBezTo>
                    <a:pt x="8353425" y="2906014"/>
                    <a:pt x="8269732" y="2989580"/>
                    <a:pt x="8166608" y="2989580"/>
                  </a:cubicBezTo>
                  <a:lnTo>
                    <a:pt x="186817" y="2989580"/>
                  </a:lnTo>
                  <a:cubicBezTo>
                    <a:pt x="83693" y="2989580"/>
                    <a:pt x="0" y="2905887"/>
                    <a:pt x="0" y="2802763"/>
                  </a:cubicBezTo>
                  <a:close/>
                </a:path>
              </a:pathLst>
            </a:custGeom>
            <a:solidFill>
              <a:srgbClr val="DDF0FB"/>
            </a:solidFill>
            <a:ln w="47625" cap="sq">
              <a:solidFill>
                <a:srgbClr val="56B4E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521440" y="3017520"/>
            <a:ext cx="5668823" cy="2194560"/>
            <a:chOff x="0" y="0"/>
            <a:chExt cx="7558430" cy="2926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843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558430">
                  <a:moveTo>
                    <a:pt x="0" y="0"/>
                  </a:moveTo>
                  <a:lnTo>
                    <a:pt x="7558430" y="0"/>
                  </a:lnTo>
                  <a:lnTo>
                    <a:pt x="755843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" r="0" b="-33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55843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 band (aleatoric): </a:t>
              </a: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 with the same reading still differ by chance. Noise sd stays about 3 at n = 20, 200 and 2,000.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23307" y="5394008"/>
            <a:ext cx="6265088" cy="2242185"/>
            <a:chOff x="0" y="0"/>
            <a:chExt cx="8353450" cy="2989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53425" cy="2989580"/>
            </a:xfrm>
            <a:custGeom>
              <a:avLst/>
              <a:gdLst/>
              <a:ahLst/>
              <a:cxnLst/>
              <a:rect r="r" b="b" t="t" l="l"/>
              <a:pathLst>
                <a:path h="2989580" w="8353425">
                  <a:moveTo>
                    <a:pt x="0" y="186817"/>
                  </a:moveTo>
                  <a:cubicBezTo>
                    <a:pt x="0" y="83693"/>
                    <a:pt x="83693" y="0"/>
                    <a:pt x="186817" y="0"/>
                  </a:cubicBezTo>
                  <a:lnTo>
                    <a:pt x="8166608" y="0"/>
                  </a:lnTo>
                  <a:cubicBezTo>
                    <a:pt x="8269859" y="0"/>
                    <a:pt x="8353425" y="83693"/>
                    <a:pt x="8353425" y="186817"/>
                  </a:cubicBezTo>
                  <a:lnTo>
                    <a:pt x="8353425" y="2802763"/>
                  </a:lnTo>
                  <a:cubicBezTo>
                    <a:pt x="8353425" y="2906014"/>
                    <a:pt x="8269732" y="2989580"/>
                    <a:pt x="8166608" y="2989580"/>
                  </a:cubicBezTo>
                  <a:lnTo>
                    <a:pt x="186817" y="2989580"/>
                  </a:lnTo>
                  <a:cubicBezTo>
                    <a:pt x="83693" y="2989580"/>
                    <a:pt x="0" y="2905887"/>
                    <a:pt x="0" y="2802763"/>
                  </a:cubicBezTo>
                  <a:close/>
                </a:path>
              </a:pathLst>
            </a:custGeom>
            <a:solidFill>
              <a:srgbClr val="F6E4EE"/>
            </a:solidFill>
            <a:ln w="47625" cap="sq">
              <a:solidFill>
                <a:srgbClr val="CC79A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1440" y="5417820"/>
            <a:ext cx="5668823" cy="2194560"/>
            <a:chOff x="0" y="0"/>
            <a:chExt cx="7558430" cy="2926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5843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558430">
                  <a:moveTo>
                    <a:pt x="0" y="0"/>
                  </a:moveTo>
                  <a:lnTo>
                    <a:pt x="7558430" y="0"/>
                  </a:lnTo>
                  <a:lnTo>
                    <a:pt x="755843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2" r="0" b="-3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55843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Purple lines (epistemic): </a:t>
              </a: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model’s own doubt. Spread of its prediction at x = 5: 0.68, then 0.22, then 0.07 as n grows.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47120" y="7818120"/>
            <a:ext cx="6217463" cy="1097280"/>
            <a:chOff x="0" y="0"/>
            <a:chExt cx="828995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8995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89950">
                  <a:moveTo>
                    <a:pt x="0" y="0"/>
                  </a:moveTo>
                  <a:lnTo>
                    <a:pt x="8289950" y="0"/>
                  </a:lnTo>
                  <a:lnTo>
                    <a:pt x="828995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07" r="0" b="-6040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28995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More data fixes the purple part, not the blue part.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4 · ALEATORIC VS EPISTEMIC UNCERTAINTY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Which kind of doubt it is decides what to do next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2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Concepts and uses: Hüllermeier and Waegeman [10].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194560"/>
            <a:ext cx="3566160" cy="960120"/>
            <a:chOff x="0" y="0"/>
            <a:chExt cx="475488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097280"/>
                  </a:lnTo>
                  <a:cubicBezTo>
                    <a:pt x="4754880" y="1198245"/>
                    <a:pt x="4672965" y="1280160"/>
                    <a:pt x="4572000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194560"/>
            <a:ext cx="3566160" cy="960120"/>
            <a:chOff x="0" y="0"/>
            <a:chExt cx="4754880" cy="128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75488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Input: patient record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80780">
            <a:off x="4438145" y="2665095"/>
            <a:ext cx="724900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5212080" y="2194560"/>
            <a:ext cx="2606040" cy="960120"/>
            <a:chOff x="0" y="0"/>
            <a:chExt cx="347472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474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291840" y="0"/>
                  </a:lnTo>
                  <a:cubicBezTo>
                    <a:pt x="3392805" y="0"/>
                    <a:pt x="3474720" y="81915"/>
                    <a:pt x="3474720" y="182880"/>
                  </a:cubicBezTo>
                  <a:lnTo>
                    <a:pt x="3474720" y="1097280"/>
                  </a:lnTo>
                  <a:cubicBezTo>
                    <a:pt x="3474720" y="1198245"/>
                    <a:pt x="3392805" y="1280160"/>
                    <a:pt x="3291840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212080" y="2194560"/>
            <a:ext cx="2606040" cy="960120"/>
            <a:chOff x="0" y="0"/>
            <a:chExt cx="347472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4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47472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180780">
            <a:off x="7867145" y="2665095"/>
            <a:ext cx="724900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8641080" y="2194560"/>
            <a:ext cx="8823503" cy="960120"/>
            <a:chOff x="0" y="0"/>
            <a:chExt cx="1176467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64645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76464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581765" y="0"/>
                  </a:lnTo>
                  <a:cubicBezTo>
                    <a:pt x="11682730" y="0"/>
                    <a:pt x="11764645" y="81915"/>
                    <a:pt x="11764645" y="182880"/>
                  </a:cubicBezTo>
                  <a:lnTo>
                    <a:pt x="11764645" y="1097280"/>
                  </a:lnTo>
                  <a:cubicBezTo>
                    <a:pt x="11764645" y="1198245"/>
                    <a:pt x="11682730" y="1280160"/>
                    <a:pt x="11581765" y="1280160"/>
                  </a:cubicBezTo>
                  <a:lnTo>
                    <a:pt x="182880" y="1280160"/>
                  </a:lnTo>
                  <a:cubicBezTo>
                    <a:pt x="81915" y="1280160"/>
                    <a:pt x="0" y="1198245"/>
                    <a:pt x="0" y="10972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46820" y="2194560"/>
            <a:ext cx="8503920" cy="960120"/>
            <a:chOff x="0" y="0"/>
            <a:chExt cx="113385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38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133856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estimates: </a:t>
              </a: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epistemic (what it does not know) and aleatoric (what is random)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22960" y="3400425"/>
            <a:ext cx="49377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STATE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09360" y="3400425"/>
            <a:ext cx="48006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IT SHOULD SAY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58600" y="3400425"/>
            <a:ext cx="58059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RIGHT RESPONSE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2960" y="3840480"/>
            <a:ext cx="4937760" cy="1303020"/>
            <a:chOff x="0" y="0"/>
            <a:chExt cx="658368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583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0800" y="0"/>
                  </a:lnTo>
                  <a:cubicBezTo>
                    <a:pt x="6501765" y="0"/>
                    <a:pt x="6583680" y="81915"/>
                    <a:pt x="6583680" y="182880"/>
                  </a:cubicBezTo>
                  <a:lnTo>
                    <a:pt x="6583680" y="1554480"/>
                  </a:lnTo>
                  <a:cubicBezTo>
                    <a:pt x="6583680" y="1655445"/>
                    <a:pt x="6501765" y="1737360"/>
                    <a:pt x="640080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CC79A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28700" y="3840480"/>
            <a:ext cx="4526280" cy="1303020"/>
            <a:chOff x="0" y="0"/>
            <a:chExt cx="6035040" cy="1737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35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03504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Epistemic high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“I have rarely seen cases like this”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274020">
            <a:off x="5795772" y="4482465"/>
            <a:ext cx="478526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6309360" y="3840480"/>
            <a:ext cx="4800600" cy="1303020"/>
            <a:chOff x="0" y="0"/>
            <a:chExt cx="640080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00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400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81915"/>
                    <a:pt x="6400800" y="182880"/>
                  </a:cubicBezTo>
                  <a:lnTo>
                    <a:pt x="6400800" y="1554480"/>
                  </a:lnTo>
                  <a:cubicBezTo>
                    <a:pt x="6400800" y="1655445"/>
                    <a:pt x="6318885" y="1737360"/>
                    <a:pt x="621792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15100" y="3840480"/>
            <a:ext cx="4389120" cy="1303020"/>
            <a:chOff x="0" y="0"/>
            <a:chExt cx="5852160" cy="1737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3" r="0" b="-156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8521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1F29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“I am not sure because I lack data”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274020">
            <a:off x="11145012" y="4482465"/>
            <a:ext cx="478526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11658600" y="3840480"/>
            <a:ext cx="5805983" cy="1303020"/>
            <a:chOff x="0" y="0"/>
            <a:chExt cx="7741310" cy="1737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741286" cy="1737360"/>
            </a:xfrm>
            <a:custGeom>
              <a:avLst/>
              <a:gdLst/>
              <a:ahLst/>
              <a:cxnLst/>
              <a:rect r="r" b="b" t="t" l="l"/>
              <a:pathLst>
                <a:path h="1737360" w="77412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558405" y="0"/>
                  </a:lnTo>
                  <a:cubicBezTo>
                    <a:pt x="7659370" y="0"/>
                    <a:pt x="7741286" y="81915"/>
                    <a:pt x="7741286" y="182880"/>
                  </a:cubicBezTo>
                  <a:lnTo>
                    <a:pt x="7741286" y="1554480"/>
                  </a:lnTo>
                  <a:cubicBezTo>
                    <a:pt x="7741286" y="1655445"/>
                    <a:pt x="7659370" y="1737360"/>
                    <a:pt x="7558405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64340" y="3840480"/>
            <a:ext cx="5394503" cy="1303020"/>
            <a:chOff x="0" y="0"/>
            <a:chExt cx="7192670" cy="1737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92670" cy="1737360"/>
            </a:xfrm>
            <a:custGeom>
              <a:avLst/>
              <a:gdLst/>
              <a:ahLst/>
              <a:cxnLst/>
              <a:rect r="r" b="b" t="t" l="l"/>
              <a:pathLst>
                <a:path h="1737360" w="7192670">
                  <a:moveTo>
                    <a:pt x="0" y="0"/>
                  </a:moveTo>
                  <a:lnTo>
                    <a:pt x="7192670" y="0"/>
                  </a:lnTo>
                  <a:lnTo>
                    <a:pt x="719267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8" r="0" b="-306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19267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Defer to a clinician, flag the case, collect more data of this kind.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5308092"/>
            <a:ext cx="4937760" cy="1303020"/>
            <a:chOff x="0" y="0"/>
            <a:chExt cx="6583680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583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0800" y="0"/>
                  </a:lnTo>
                  <a:cubicBezTo>
                    <a:pt x="6501765" y="0"/>
                    <a:pt x="6583680" y="81915"/>
                    <a:pt x="6583680" y="182880"/>
                  </a:cubicBezTo>
                  <a:lnTo>
                    <a:pt x="6583680" y="1554480"/>
                  </a:lnTo>
                  <a:cubicBezTo>
                    <a:pt x="6583680" y="1655445"/>
                    <a:pt x="6501765" y="1737360"/>
                    <a:pt x="640080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56B4E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28700" y="5308092"/>
            <a:ext cx="4526280" cy="1303020"/>
            <a:chOff x="0" y="0"/>
            <a:chExt cx="6035040" cy="1737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35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603504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Aleatoric high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“Cases like this are inherently variable”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274020">
            <a:off x="5795772" y="5950077"/>
            <a:ext cx="478526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6309360" y="5308092"/>
            <a:ext cx="4800600" cy="1303020"/>
            <a:chOff x="0" y="0"/>
            <a:chExt cx="6400800" cy="1737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00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400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81915"/>
                    <a:pt x="6400800" y="182880"/>
                  </a:cubicBezTo>
                  <a:lnTo>
                    <a:pt x="6400800" y="1554480"/>
                  </a:lnTo>
                  <a:cubicBezTo>
                    <a:pt x="6400800" y="1655445"/>
                    <a:pt x="6318885" y="1737360"/>
                    <a:pt x="621792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515100" y="5308092"/>
            <a:ext cx="4389120" cy="1303020"/>
            <a:chOff x="0" y="0"/>
            <a:chExt cx="5852160" cy="1737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8521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3" r="0" b="-1563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8521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1F29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“The outcome is a matter of chance”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274020">
            <a:off x="11145012" y="5950077"/>
            <a:ext cx="478526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11658600" y="5308092"/>
            <a:ext cx="5805983" cy="1303020"/>
            <a:chOff x="0" y="0"/>
            <a:chExt cx="7741310" cy="1737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741286" cy="1737360"/>
            </a:xfrm>
            <a:custGeom>
              <a:avLst/>
              <a:gdLst/>
              <a:ahLst/>
              <a:cxnLst/>
              <a:rect r="r" b="b" t="t" l="l"/>
              <a:pathLst>
                <a:path h="1737360" w="77412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558405" y="0"/>
                  </a:lnTo>
                  <a:cubicBezTo>
                    <a:pt x="7659370" y="0"/>
                    <a:pt x="7741286" y="81915"/>
                    <a:pt x="7741286" y="182880"/>
                  </a:cubicBezTo>
                  <a:lnTo>
                    <a:pt x="7741286" y="1554480"/>
                  </a:lnTo>
                  <a:cubicBezTo>
                    <a:pt x="7741286" y="1655445"/>
                    <a:pt x="7659370" y="1737360"/>
                    <a:pt x="7558405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864340" y="5308092"/>
            <a:ext cx="5394503" cy="1303020"/>
            <a:chOff x="0" y="0"/>
            <a:chExt cx="7192670" cy="1737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92670" cy="1737360"/>
            </a:xfrm>
            <a:custGeom>
              <a:avLst/>
              <a:gdLst/>
              <a:ahLst/>
              <a:cxnLst/>
              <a:rect r="r" b="b" t="t" l="l"/>
              <a:pathLst>
                <a:path h="1737360" w="7192670">
                  <a:moveTo>
                    <a:pt x="0" y="0"/>
                  </a:moveTo>
                  <a:lnTo>
                    <a:pt x="7192670" y="0"/>
                  </a:lnTo>
                  <a:lnTo>
                    <a:pt x="719267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8" r="0" b="-3066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719267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a range or probability; do not collect more of the same.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6775704"/>
            <a:ext cx="4937760" cy="1303020"/>
            <a:chOff x="0" y="0"/>
            <a:chExt cx="6583680" cy="1737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83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5836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0800" y="0"/>
                  </a:lnTo>
                  <a:cubicBezTo>
                    <a:pt x="6501765" y="0"/>
                    <a:pt x="6583680" y="81915"/>
                    <a:pt x="6583680" y="182880"/>
                  </a:cubicBezTo>
                  <a:lnTo>
                    <a:pt x="6583680" y="1554480"/>
                  </a:lnTo>
                  <a:cubicBezTo>
                    <a:pt x="6583680" y="1655445"/>
                    <a:pt x="6501765" y="1737360"/>
                    <a:pt x="640080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28700" y="6775704"/>
            <a:ext cx="4526280" cy="1303020"/>
            <a:chOff x="0" y="0"/>
            <a:chExt cx="6035040" cy="1737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35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603504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Both low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274020">
            <a:off x="5795772" y="7417689"/>
            <a:ext cx="478526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6309360" y="6775704"/>
            <a:ext cx="4800600" cy="1303020"/>
            <a:chOff x="0" y="0"/>
            <a:chExt cx="6400800" cy="1737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008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400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81915"/>
                    <a:pt x="6400800" y="182880"/>
                  </a:cubicBezTo>
                  <a:lnTo>
                    <a:pt x="6400800" y="1554480"/>
                  </a:lnTo>
                  <a:cubicBezTo>
                    <a:pt x="6400800" y="1655445"/>
                    <a:pt x="6318885" y="1737360"/>
                    <a:pt x="621792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515100" y="6775704"/>
            <a:ext cx="4389120" cy="1303020"/>
            <a:chOff x="0" y="0"/>
            <a:chExt cx="5852160" cy="1737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521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33" r="0" b="-1563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58521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1F293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“I am fairly sure”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274020">
            <a:off x="11145012" y="7417689"/>
            <a:ext cx="478526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5" id="85"/>
          <p:cNvGrpSpPr/>
          <p:nvPr/>
        </p:nvGrpSpPr>
        <p:grpSpPr>
          <a:xfrm rot="0">
            <a:off x="11658600" y="6775704"/>
            <a:ext cx="5805983" cy="1303020"/>
            <a:chOff x="0" y="0"/>
            <a:chExt cx="7741310" cy="1737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741286" cy="1737360"/>
            </a:xfrm>
            <a:custGeom>
              <a:avLst/>
              <a:gdLst/>
              <a:ahLst/>
              <a:cxnLst/>
              <a:rect r="r" b="b" t="t" l="l"/>
              <a:pathLst>
                <a:path h="1737360" w="77412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558405" y="0"/>
                  </a:lnTo>
                  <a:cubicBezTo>
                    <a:pt x="7659370" y="0"/>
                    <a:pt x="7741286" y="81915"/>
                    <a:pt x="7741286" y="182880"/>
                  </a:cubicBezTo>
                  <a:lnTo>
                    <a:pt x="7741286" y="1554480"/>
                  </a:lnTo>
                  <a:cubicBezTo>
                    <a:pt x="7741286" y="1655445"/>
                    <a:pt x="7659370" y="1737360"/>
                    <a:pt x="7558405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864340" y="6775704"/>
            <a:ext cx="5394503" cy="1303020"/>
            <a:chOff x="0" y="0"/>
            <a:chExt cx="7192670" cy="17373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92670" cy="1737360"/>
            </a:xfrm>
            <a:custGeom>
              <a:avLst/>
              <a:gdLst/>
              <a:ahLst/>
              <a:cxnLst/>
              <a:rect r="r" b="b" t="t" l="l"/>
              <a:pathLst>
                <a:path h="1737360" w="7192670">
                  <a:moveTo>
                    <a:pt x="0" y="0"/>
                  </a:moveTo>
                  <a:lnTo>
                    <a:pt x="7192670" y="0"/>
                  </a:lnTo>
                  <a:lnTo>
                    <a:pt x="719267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68" r="0" b="-3066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719267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Answer, still with a range.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2960" y="8339328"/>
            <a:ext cx="16641623" cy="891540"/>
            <a:chOff x="0" y="0"/>
            <a:chExt cx="22188830" cy="11887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18883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3710" r="0" b="-31371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2218883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Wrong diagnosis of the doubt means wrong action: collecting data for pure noise is wasted effort; averaging away ignorance hides risk.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5 · CRISP LOGIC AND ITS LIMITS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Crisp logic: every element is in (1) or out (0)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3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Plot: own computation (demo notebook, appendix). Definition: standard set theory.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537460"/>
            <a:ext cx="9464040" cy="6045765"/>
            <a:chOff x="0" y="0"/>
            <a:chExt cx="12618720" cy="8061020"/>
          </a:xfrm>
        </p:grpSpPr>
        <p:sp>
          <p:nvSpPr>
            <p:cNvPr name="Freeform 20" id="20" descr="Step function: characteristic function of the crisp set of hot days, equal to 0 below 30 degrees Celsius and 1 from 30 degrees upward"/>
            <p:cNvSpPr/>
            <p:nvPr/>
          </p:nvSpPr>
          <p:spPr>
            <a:xfrm flipH="false" flipV="false" rot="0">
              <a:off x="0" y="0"/>
              <a:ext cx="12618720" cy="8061071"/>
            </a:xfrm>
            <a:custGeom>
              <a:avLst/>
              <a:gdLst/>
              <a:ahLst/>
              <a:cxnLst/>
              <a:rect r="r" b="b" t="t" l="l"/>
              <a:pathLst>
                <a:path h="8061071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8061071"/>
                  </a:lnTo>
                  <a:lnTo>
                    <a:pt x="0" y="8061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767060" y="2537460"/>
            <a:ext cx="6697523" cy="2948940"/>
            <a:chOff x="0" y="0"/>
            <a:chExt cx="8930030" cy="393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30005" cy="3931920"/>
            </a:xfrm>
            <a:custGeom>
              <a:avLst/>
              <a:gdLst/>
              <a:ahLst/>
              <a:cxnLst/>
              <a:rect r="r" b="b" t="t" l="l"/>
              <a:pathLst>
                <a:path h="3931920" w="89300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747125" y="0"/>
                  </a:lnTo>
                  <a:cubicBezTo>
                    <a:pt x="8848090" y="0"/>
                    <a:pt x="8930005" y="81915"/>
                    <a:pt x="8930005" y="182880"/>
                  </a:cubicBezTo>
                  <a:lnTo>
                    <a:pt x="8930005" y="3749040"/>
                  </a:lnTo>
                  <a:cubicBezTo>
                    <a:pt x="8930005" y="3850005"/>
                    <a:pt x="8848090" y="3931920"/>
                    <a:pt x="8747125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109960" y="2668143"/>
            <a:ext cx="6011723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A crisp set A has a characteristic function: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09960" y="3429000"/>
            <a:ext cx="6011723" cy="17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χA(x) = 1  if x ∈ A</a:t>
            </a:r>
          </a:p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χA(x) = 0  if x ∉ 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67060" y="5692140"/>
            <a:ext cx="6697523" cy="1371600"/>
            <a:chOff x="0" y="0"/>
            <a:chExt cx="893003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30005" cy="1828800"/>
            </a:xfrm>
            <a:custGeom>
              <a:avLst/>
              <a:gdLst/>
              <a:ahLst/>
              <a:cxnLst/>
              <a:rect r="r" b="b" t="t" l="l"/>
              <a:pathLst>
                <a:path h="1828800" w="89300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747125" y="0"/>
                  </a:lnTo>
                  <a:cubicBezTo>
                    <a:pt x="8848090" y="0"/>
                    <a:pt x="8930005" y="81915"/>
                    <a:pt x="8930005" y="182880"/>
                  </a:cubicBezTo>
                  <a:lnTo>
                    <a:pt x="8930005" y="1645920"/>
                  </a:lnTo>
                  <a:cubicBezTo>
                    <a:pt x="8930005" y="1746885"/>
                    <a:pt x="8848090" y="1828800"/>
                    <a:pt x="8747125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109960" y="5692140"/>
            <a:ext cx="6011723" cy="1371600"/>
            <a:chOff x="0" y="0"/>
            <a:chExt cx="801563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1563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015630">
                  <a:moveTo>
                    <a:pt x="0" y="0"/>
                  </a:moveTo>
                  <a:lnTo>
                    <a:pt x="8015630" y="0"/>
                  </a:lnTo>
                  <a:lnTo>
                    <a:pt x="801563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402" r="0" b="-354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01563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= hot days = { T : T ≥ 30 °C }</a:t>
              </a:r>
            </a:p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χA(31) = 1,   χA(29) = 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767060" y="7269480"/>
            <a:ext cx="6697523" cy="1316736"/>
            <a:chOff x="0" y="0"/>
            <a:chExt cx="8930030" cy="1755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30005" cy="1755648"/>
            </a:xfrm>
            <a:custGeom>
              <a:avLst/>
              <a:gdLst/>
              <a:ahLst/>
              <a:cxnLst/>
              <a:rect r="r" b="b" t="t" l="l"/>
              <a:pathLst>
                <a:path h="1755648" w="89300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747125" y="0"/>
                  </a:lnTo>
                  <a:cubicBezTo>
                    <a:pt x="8848090" y="0"/>
                    <a:pt x="8930005" y="81915"/>
                    <a:pt x="8930005" y="182880"/>
                  </a:cubicBezTo>
                  <a:lnTo>
                    <a:pt x="8930005" y="1572768"/>
                  </a:lnTo>
                  <a:cubicBezTo>
                    <a:pt x="8930005" y="1673733"/>
                    <a:pt x="8848090" y="1755648"/>
                    <a:pt x="8747125" y="1755648"/>
                  </a:cubicBezTo>
                  <a:lnTo>
                    <a:pt x="182880" y="1755648"/>
                  </a:lnTo>
                  <a:cubicBezTo>
                    <a:pt x="81915" y="1755648"/>
                    <a:pt x="0" y="1673733"/>
                    <a:pt x="0" y="1572768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109960" y="7269480"/>
            <a:ext cx="6011723" cy="1316736"/>
            <a:chOff x="0" y="0"/>
            <a:chExt cx="8015630" cy="17556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1563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015630">
                  <a:moveTo>
                    <a:pt x="0" y="0"/>
                  </a:moveTo>
                  <a:lnTo>
                    <a:pt x="8015630" y="0"/>
                  </a:lnTo>
                  <a:lnTo>
                    <a:pt x="801563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961" r="0" b="-3896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8015630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Only two truth values: true or false. Membership is all or nothing.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5 · CRISP LOGIC AND ITS LIMITS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If “hot” starts at 30 °C, then 29.9 °C is not hot at all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3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Plot: own computation (demo notebook, appendix).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468880"/>
            <a:ext cx="9052560" cy="5767359"/>
            <a:chOff x="0" y="0"/>
            <a:chExt cx="12070080" cy="7689812"/>
          </a:xfrm>
        </p:grpSpPr>
        <p:sp>
          <p:nvSpPr>
            <p:cNvPr name="Freeform 20" id="20" descr="Step function with two points marked: 29.9 degrees Celsius gives 0 and 30.0 degrees gives 1, only 0.1 degrees apart"/>
            <p:cNvSpPr/>
            <p:nvPr/>
          </p:nvSpPr>
          <p:spPr>
            <a:xfrm flipH="false" flipV="false" rot="0">
              <a:off x="0" y="0"/>
              <a:ext cx="12070080" cy="7689850"/>
            </a:xfrm>
            <a:custGeom>
              <a:avLst/>
              <a:gdLst/>
              <a:ahLst/>
              <a:cxnLst/>
              <a:rect r="r" b="b" t="t" l="l"/>
              <a:pathLst>
                <a:path h="768985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7689850"/>
                  </a:lnTo>
                  <a:lnTo>
                    <a:pt x="0" y="768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424160" y="2468880"/>
            <a:ext cx="2811780" cy="2811780"/>
            <a:chOff x="0" y="0"/>
            <a:chExt cx="3749040" cy="3749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49040" cy="3749040"/>
            </a:xfrm>
            <a:custGeom>
              <a:avLst/>
              <a:gdLst/>
              <a:ahLst/>
              <a:cxnLst/>
              <a:rect r="r" b="b" t="t" l="l"/>
              <a:pathLst>
                <a:path h="3749040" w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3566160"/>
                  </a:lnTo>
                  <a:cubicBezTo>
                    <a:pt x="3749040" y="3667125"/>
                    <a:pt x="3667125" y="3749040"/>
                    <a:pt x="356616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281410" y="2606040"/>
            <a:ext cx="1097280" cy="1097280"/>
            <a:chOff x="0" y="0"/>
            <a:chExt cx="1463040" cy="1463040"/>
          </a:xfrm>
        </p:grpSpPr>
        <p:sp>
          <p:nvSpPr>
            <p:cNvPr name="Freeform 24" id="24" descr="cool thermometer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424160" y="3773805"/>
            <a:ext cx="281178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29.9 °C</a:t>
            </a:r>
          </a:p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not hot (0)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652803" y="2468880"/>
            <a:ext cx="2811780" cy="2811780"/>
            <a:chOff x="0" y="0"/>
            <a:chExt cx="3749040" cy="3749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49040" cy="3749040"/>
            </a:xfrm>
            <a:custGeom>
              <a:avLst/>
              <a:gdLst/>
              <a:ahLst/>
              <a:cxnLst/>
              <a:rect r="r" b="b" t="t" l="l"/>
              <a:pathLst>
                <a:path h="3749040" w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566160" y="0"/>
                  </a:lnTo>
                  <a:cubicBezTo>
                    <a:pt x="3667125" y="0"/>
                    <a:pt x="3749040" y="81915"/>
                    <a:pt x="3749040" y="182880"/>
                  </a:cubicBezTo>
                  <a:lnTo>
                    <a:pt x="3749040" y="3566160"/>
                  </a:lnTo>
                  <a:cubicBezTo>
                    <a:pt x="3749040" y="3667125"/>
                    <a:pt x="3667125" y="3749040"/>
                    <a:pt x="356616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510053" y="2606040"/>
            <a:ext cx="1097280" cy="1097280"/>
            <a:chOff x="0" y="0"/>
            <a:chExt cx="1463040" cy="1463040"/>
          </a:xfrm>
        </p:grpSpPr>
        <p:sp>
          <p:nvSpPr>
            <p:cNvPr name="Freeform 29" id="29" descr="hot thermometer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652803" y="3773805"/>
            <a:ext cx="281178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30.0 °C</a:t>
            </a:r>
          </a:p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hot (1)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58571" y="3116580"/>
            <a:ext cx="13716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D55E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0.1 °C</a:t>
            </a:r>
          </a:p>
        </p:txBody>
      </p:sp>
      <p:sp>
        <p:nvSpPr>
          <p:cNvPr name="AutoShape 32" id="32"/>
          <p:cNvSpPr/>
          <p:nvPr/>
        </p:nvSpPr>
        <p:spPr>
          <a:xfrm rot="115320">
            <a:off x="13305358" y="3899535"/>
            <a:ext cx="1278017" cy="0"/>
          </a:xfrm>
          <a:prstGeom prst="line">
            <a:avLst/>
          </a:prstGeom>
          <a:ln cap="rnd" w="19050">
            <a:solidFill>
              <a:srgbClr val="D55E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rot="10684680">
            <a:off x="13305358" y="3899535"/>
            <a:ext cx="1278017" cy="0"/>
          </a:xfrm>
          <a:prstGeom prst="line">
            <a:avLst/>
          </a:prstGeom>
          <a:ln cap="rnd" w="19050">
            <a:solidFill>
              <a:srgbClr val="D55E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0424160" y="5760720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424160" y="5760720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247120" y="5634990"/>
            <a:ext cx="6217463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 change of 0.1 °C flips the label completely.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424160" y="6926580"/>
            <a:ext cx="548640" cy="548640"/>
            <a:chOff x="0" y="0"/>
            <a:chExt cx="731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424160" y="6926580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247120" y="6800850"/>
            <a:ext cx="6217463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Thermometers are imprecise (± 0.3 °C), so noise alone can flip the label.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424160" y="8092440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424160" y="8092440"/>
            <a:ext cx="548640" cy="548640"/>
            <a:chOff x="0" y="0"/>
            <a:chExt cx="73152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247120" y="7966710"/>
            <a:ext cx="6217463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Real concepts (“tall”, “high risk”) do not change abruptly at one point.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5 · CRISP LOGIC AND ITS LIMITS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Vague concepts break crisp logic; sharp rules still have a place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3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Sorites formulation: Hyde and Raffman, Stanford Encyclopedia of Philosophy [11].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263140"/>
            <a:ext cx="8503920" cy="6789420"/>
            <a:chOff x="0" y="0"/>
            <a:chExt cx="11338560" cy="9052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38560" cy="9052560"/>
            </a:xfrm>
            <a:custGeom>
              <a:avLst/>
              <a:gdLst/>
              <a:ahLst/>
              <a:cxnLst/>
              <a:rect r="r" b="b" t="t" l="l"/>
              <a:pathLst>
                <a:path h="9052560" w="11338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155680" y="0"/>
                  </a:lnTo>
                  <a:cubicBezTo>
                    <a:pt x="11256645" y="0"/>
                    <a:pt x="11338560" y="81915"/>
                    <a:pt x="11338560" y="182880"/>
                  </a:cubicBezTo>
                  <a:lnTo>
                    <a:pt x="11338560" y="8869680"/>
                  </a:lnTo>
                  <a:cubicBezTo>
                    <a:pt x="11338560" y="8970645"/>
                    <a:pt x="11256645" y="9052560"/>
                    <a:pt x="11155680" y="9052560"/>
                  </a:cubicBezTo>
                  <a:lnTo>
                    <a:pt x="182880" y="9052560"/>
                  </a:lnTo>
                  <a:cubicBezTo>
                    <a:pt x="81915" y="9052560"/>
                    <a:pt x="0" y="8970645"/>
                    <a:pt x="0" y="88696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4440" y="2449830"/>
            <a:ext cx="7680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The sorites (heap) paradox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249424" y="4567428"/>
            <a:ext cx="164592" cy="164592"/>
            <a:chOff x="0" y="0"/>
            <a:chExt cx="219456" cy="219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4B556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57700" y="3977640"/>
            <a:ext cx="1234440" cy="754380"/>
            <a:chOff x="0" y="0"/>
            <a:chExt cx="164592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45920">
                  <a:moveTo>
                    <a:pt x="0" y="1005840"/>
                  </a:moveTo>
                  <a:lnTo>
                    <a:pt x="822960" y="0"/>
                  </a:lnTo>
                  <a:lnTo>
                    <a:pt x="1645920" y="1005840"/>
                  </a:lnTo>
                  <a:close/>
                </a:path>
              </a:pathLst>
            </a:custGeom>
            <a:solidFill>
              <a:srgbClr val="9CA3A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0" y="3360420"/>
            <a:ext cx="2194560" cy="1371600"/>
            <a:chOff x="0" y="0"/>
            <a:chExt cx="292608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926080">
                  <a:moveTo>
                    <a:pt x="0" y="1828800"/>
                  </a:moveTo>
                  <a:lnTo>
                    <a:pt x="1463040" y="0"/>
                  </a:lnTo>
                  <a:lnTo>
                    <a:pt x="2926080" y="1828800"/>
                  </a:lnTo>
                  <a:close/>
                </a:path>
              </a:pathLst>
            </a:custGeom>
            <a:solidFill>
              <a:srgbClr val="4B556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0120" y="4794123"/>
            <a:ext cx="27432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1 grain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03320" y="4794123"/>
            <a:ext cx="27432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100 grains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46520" y="4794123"/>
            <a:ext cx="27432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1,000,000 grains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440" y="5507355"/>
            <a:ext cx="7680960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1.  One grain of wheat does not make a heap.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2.  If n grains do not make a heap, adding one grain does not either.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3.  Therefore one million grains do not make a heap.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4440" y="8210550"/>
            <a:ext cx="768096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Same puzzle for tall, hot, high risk.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1200" y="2263140"/>
            <a:ext cx="7863383" cy="6789420"/>
            <a:chOff x="0" y="0"/>
            <a:chExt cx="10484510" cy="9052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4486" cy="9052560"/>
            </a:xfrm>
            <a:custGeom>
              <a:avLst/>
              <a:gdLst/>
              <a:ahLst/>
              <a:cxnLst/>
              <a:rect r="r" b="b" t="t" l="l"/>
              <a:pathLst>
                <a:path h="9052560" w="104844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01605" y="0"/>
                  </a:lnTo>
                  <a:cubicBezTo>
                    <a:pt x="10402570" y="0"/>
                    <a:pt x="10484486" y="81915"/>
                    <a:pt x="10484486" y="182880"/>
                  </a:cubicBezTo>
                  <a:lnTo>
                    <a:pt x="10484486" y="8869680"/>
                  </a:lnTo>
                  <a:cubicBezTo>
                    <a:pt x="10484486" y="8970645"/>
                    <a:pt x="10402570" y="9052560"/>
                    <a:pt x="10301605" y="9052560"/>
                  </a:cubicBezTo>
                  <a:lnTo>
                    <a:pt x="182880" y="9052560"/>
                  </a:lnTo>
                  <a:cubicBezTo>
                    <a:pt x="81915" y="9052560"/>
                    <a:pt x="0" y="8970645"/>
                    <a:pt x="0" y="88696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012680" y="2449830"/>
            <a:ext cx="704042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When crisp is still the right choice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98964" y="3483864"/>
            <a:ext cx="576072" cy="576072"/>
            <a:chOff x="0" y="0"/>
            <a:chExt cx="768096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148745" y="3633645"/>
            <a:ext cx="276511" cy="276511"/>
            <a:chOff x="0" y="0"/>
            <a:chExt cx="368681" cy="368681"/>
          </a:xfrm>
        </p:grpSpPr>
        <p:sp>
          <p:nvSpPr>
            <p:cNvPr name="Freeform 39" id="39" descr="check mark"/>
            <p:cNvSpPr/>
            <p:nvPr/>
          </p:nvSpPr>
          <p:spPr>
            <a:xfrm flipH="false" flipV="false" rot="0">
              <a:off x="0" y="0"/>
              <a:ext cx="368681" cy="368681"/>
            </a:xfrm>
            <a:custGeom>
              <a:avLst/>
              <a:gdLst/>
              <a:ahLst/>
              <a:cxnLst/>
              <a:rect r="r" b="b" t="t" l="l"/>
              <a:pathLst>
                <a:path h="368681" w="368681">
                  <a:moveTo>
                    <a:pt x="0" y="0"/>
                  </a:moveTo>
                  <a:lnTo>
                    <a:pt x="368681" y="0"/>
                  </a:lnTo>
                  <a:lnTo>
                    <a:pt x="368681" y="368681"/>
                  </a:lnTo>
                  <a:lnTo>
                    <a:pt x="0" y="36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04220" y="3429000"/>
            <a:ext cx="6217463" cy="685800"/>
            <a:chOff x="0" y="0"/>
            <a:chExt cx="828995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89950" cy="914400"/>
            </a:xfrm>
            <a:custGeom>
              <a:avLst/>
              <a:gdLst/>
              <a:ahLst/>
              <a:cxnLst/>
              <a:rect r="r" b="b" t="t" l="l"/>
              <a:pathLst>
                <a:path h="914400" w="8289950">
                  <a:moveTo>
                    <a:pt x="0" y="0"/>
                  </a:moveTo>
                  <a:lnTo>
                    <a:pt x="8289950" y="0"/>
                  </a:lnTo>
                  <a:lnTo>
                    <a:pt x="82899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51" r="0" b="-1266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828995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 age: 18 is the line, by law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998964" y="4416552"/>
            <a:ext cx="576072" cy="576072"/>
            <a:chOff x="0" y="0"/>
            <a:chExt cx="768096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148745" y="4566333"/>
            <a:ext cx="276511" cy="276511"/>
            <a:chOff x="0" y="0"/>
            <a:chExt cx="368681" cy="368681"/>
          </a:xfrm>
        </p:grpSpPr>
        <p:sp>
          <p:nvSpPr>
            <p:cNvPr name="Freeform 46" id="46" descr="check mark"/>
            <p:cNvSpPr/>
            <p:nvPr/>
          </p:nvSpPr>
          <p:spPr>
            <a:xfrm flipH="false" flipV="false" rot="0">
              <a:off x="0" y="0"/>
              <a:ext cx="368681" cy="368681"/>
            </a:xfrm>
            <a:custGeom>
              <a:avLst/>
              <a:gdLst/>
              <a:ahLst/>
              <a:cxnLst/>
              <a:rect r="r" b="b" t="t" l="l"/>
              <a:pathLst>
                <a:path h="368681" w="368681">
                  <a:moveTo>
                    <a:pt x="0" y="0"/>
                  </a:moveTo>
                  <a:lnTo>
                    <a:pt x="368681" y="0"/>
                  </a:lnTo>
                  <a:lnTo>
                    <a:pt x="368681" y="368681"/>
                  </a:lnTo>
                  <a:lnTo>
                    <a:pt x="0" y="36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04220" y="4361688"/>
            <a:ext cx="6217463" cy="685800"/>
            <a:chOff x="0" y="0"/>
            <a:chExt cx="828995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89950" cy="914400"/>
            </a:xfrm>
            <a:custGeom>
              <a:avLst/>
              <a:gdLst/>
              <a:ahLst/>
              <a:cxnLst/>
              <a:rect r="r" b="b" t="t" l="l"/>
              <a:pathLst>
                <a:path h="914400" w="8289950">
                  <a:moveTo>
                    <a:pt x="0" y="0"/>
                  </a:moveTo>
                  <a:lnTo>
                    <a:pt x="8289950" y="0"/>
                  </a:lnTo>
                  <a:lnTo>
                    <a:pt x="82899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51" r="0" b="-12665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828995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Pass/fail defined by regulation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98964" y="5349240"/>
            <a:ext cx="576072" cy="576072"/>
            <a:chOff x="0" y="0"/>
            <a:chExt cx="768096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148745" y="5499021"/>
            <a:ext cx="276511" cy="276511"/>
            <a:chOff x="0" y="0"/>
            <a:chExt cx="368681" cy="368681"/>
          </a:xfrm>
        </p:grpSpPr>
        <p:sp>
          <p:nvSpPr>
            <p:cNvPr name="Freeform 53" id="53" descr="check mark"/>
            <p:cNvSpPr/>
            <p:nvPr/>
          </p:nvSpPr>
          <p:spPr>
            <a:xfrm flipH="false" flipV="false" rot="0">
              <a:off x="0" y="0"/>
              <a:ext cx="368681" cy="368681"/>
            </a:xfrm>
            <a:custGeom>
              <a:avLst/>
              <a:gdLst/>
              <a:ahLst/>
              <a:cxnLst/>
              <a:rect r="r" b="b" t="t" l="l"/>
              <a:pathLst>
                <a:path h="368681" w="368681">
                  <a:moveTo>
                    <a:pt x="0" y="0"/>
                  </a:moveTo>
                  <a:lnTo>
                    <a:pt x="368681" y="0"/>
                  </a:lnTo>
                  <a:lnTo>
                    <a:pt x="368681" y="368681"/>
                  </a:lnTo>
                  <a:lnTo>
                    <a:pt x="0" y="36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04220" y="5294376"/>
            <a:ext cx="6217463" cy="685800"/>
            <a:chOff x="0" y="0"/>
            <a:chExt cx="828995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89950" cy="914400"/>
            </a:xfrm>
            <a:custGeom>
              <a:avLst/>
              <a:gdLst/>
              <a:ahLst/>
              <a:cxnLst/>
              <a:rect r="r" b="b" t="t" l="l"/>
              <a:pathLst>
                <a:path h="914400" w="8289950">
                  <a:moveTo>
                    <a:pt x="0" y="0"/>
                  </a:moveTo>
                  <a:lnTo>
                    <a:pt x="8289950" y="0"/>
                  </a:lnTo>
                  <a:lnTo>
                    <a:pt x="82899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51" r="0" b="-12665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828995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On/off safety interlocks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98964" y="6281928"/>
            <a:ext cx="576072" cy="576072"/>
            <a:chOff x="0" y="0"/>
            <a:chExt cx="768096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148745" y="6431709"/>
            <a:ext cx="276511" cy="276511"/>
            <a:chOff x="0" y="0"/>
            <a:chExt cx="368681" cy="368681"/>
          </a:xfrm>
        </p:grpSpPr>
        <p:sp>
          <p:nvSpPr>
            <p:cNvPr name="Freeform 60" id="60" descr="check mark"/>
            <p:cNvSpPr/>
            <p:nvPr/>
          </p:nvSpPr>
          <p:spPr>
            <a:xfrm flipH="false" flipV="false" rot="0">
              <a:off x="0" y="0"/>
              <a:ext cx="368681" cy="368681"/>
            </a:xfrm>
            <a:custGeom>
              <a:avLst/>
              <a:gdLst/>
              <a:ahLst/>
              <a:cxnLst/>
              <a:rect r="r" b="b" t="t" l="l"/>
              <a:pathLst>
                <a:path h="368681" w="368681">
                  <a:moveTo>
                    <a:pt x="0" y="0"/>
                  </a:moveTo>
                  <a:lnTo>
                    <a:pt x="368681" y="0"/>
                  </a:lnTo>
                  <a:lnTo>
                    <a:pt x="368681" y="368681"/>
                  </a:lnTo>
                  <a:lnTo>
                    <a:pt x="0" y="36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904220" y="6227064"/>
            <a:ext cx="6217463" cy="685800"/>
            <a:chOff x="0" y="0"/>
            <a:chExt cx="828995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289950" cy="914400"/>
            </a:xfrm>
            <a:custGeom>
              <a:avLst/>
              <a:gdLst/>
              <a:ahLst/>
              <a:cxnLst/>
              <a:rect r="r" b="b" t="t" l="l"/>
              <a:pathLst>
                <a:path h="914400" w="8289950">
                  <a:moveTo>
                    <a:pt x="0" y="0"/>
                  </a:moveTo>
                  <a:lnTo>
                    <a:pt x="8289950" y="0"/>
                  </a:lnTo>
                  <a:lnTo>
                    <a:pt x="828995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651" r="0" b="-12665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828995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 inputs, e.g. a date of birth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012680" y="7269480"/>
            <a:ext cx="7040423" cy="1508760"/>
            <a:chOff x="0" y="0"/>
            <a:chExt cx="9387230" cy="2011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387205" cy="2011680"/>
            </a:xfrm>
            <a:custGeom>
              <a:avLst/>
              <a:gdLst/>
              <a:ahLst/>
              <a:cxnLst/>
              <a:rect r="r" b="b" t="t" l="l"/>
              <a:pathLst>
                <a:path h="2011680" w="93872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04325" y="0"/>
                  </a:lnTo>
                  <a:cubicBezTo>
                    <a:pt x="9305290" y="0"/>
                    <a:pt x="9387205" y="81915"/>
                    <a:pt x="9387205" y="182880"/>
                  </a:cubicBezTo>
                  <a:lnTo>
                    <a:pt x="9387205" y="1828800"/>
                  </a:lnTo>
                  <a:cubicBezTo>
                    <a:pt x="9387205" y="1929765"/>
                    <a:pt x="9305290" y="2011680"/>
                    <a:pt x="9204325" y="2011680"/>
                  </a:cubicBezTo>
                  <a:lnTo>
                    <a:pt x="182880" y="2011680"/>
                  </a:lnTo>
                  <a:cubicBezTo>
                    <a:pt x="81915" y="2011680"/>
                    <a:pt x="0" y="1929765"/>
                    <a:pt x="0" y="182880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287000" y="7269480"/>
            <a:ext cx="6491783" cy="1508760"/>
            <a:chOff x="0" y="0"/>
            <a:chExt cx="8655710" cy="2011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65571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655710">
                  <a:moveTo>
                    <a:pt x="0" y="0"/>
                  </a:moveTo>
                  <a:lnTo>
                    <a:pt x="8655710" y="0"/>
                  </a:lnTo>
                  <a:lnTo>
                    <a:pt x="865571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838" r="0" b="-3383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865571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crisp when a rule defines the boundary and a clear line is worth more than a smooth one.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6 · FUZZY LOGIC, THE BASIC IDEA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Fuzzy sets soften the edge: membership is a degree from 0 to 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3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Plot: own computation (demo notebook, appendix). Definition and quote: L. A. Zadeh [12].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400300"/>
            <a:ext cx="10972800" cy="3935320"/>
            <a:chOff x="0" y="0"/>
            <a:chExt cx="14630400" cy="5247094"/>
          </a:xfrm>
        </p:grpSpPr>
        <p:sp>
          <p:nvSpPr>
            <p:cNvPr name="Freeform 20" id="20" descr="Two panels: crisp hot jumps from 0 to 1 at 30 degrees Celsius; fuzzy hot rises smoothly from 24 to 34 degrees; 29.9 gives 0.59 and 30.0 gives 0.60"/>
            <p:cNvSpPr/>
            <p:nvPr/>
          </p:nvSpPr>
          <p:spPr>
            <a:xfrm flipH="false" flipV="false" rot="0">
              <a:off x="0" y="0"/>
              <a:ext cx="14630400" cy="5247132"/>
            </a:xfrm>
            <a:custGeom>
              <a:avLst/>
              <a:gdLst/>
              <a:ahLst/>
              <a:cxnLst/>
              <a:rect r="r" b="b" t="t" l="l"/>
              <a:pathLst>
                <a:path h="524713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247132"/>
                  </a:lnTo>
                  <a:lnTo>
                    <a:pt x="0" y="5247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6652260"/>
            <a:ext cx="10972800" cy="2468880"/>
            <a:chOff x="0" y="0"/>
            <a:chExt cx="14630400" cy="3291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46304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447520" y="0"/>
                  </a:lnTo>
                  <a:cubicBezTo>
                    <a:pt x="14548484" y="0"/>
                    <a:pt x="14630400" y="81915"/>
                    <a:pt x="14630400" y="182880"/>
                  </a:cubicBezTo>
                  <a:lnTo>
                    <a:pt x="14630400" y="3108960"/>
                  </a:lnTo>
                  <a:cubicBezTo>
                    <a:pt x="14630400" y="3209925"/>
                    <a:pt x="14548484" y="3291840"/>
                    <a:pt x="14447520" y="3291840"/>
                  </a:cubicBezTo>
                  <a:lnTo>
                    <a:pt x="182880" y="3291840"/>
                  </a:lnTo>
                  <a:cubicBezTo>
                    <a:pt x="81915" y="3291840"/>
                    <a:pt x="0" y="3209925"/>
                    <a:pt x="0" y="31089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6652260"/>
            <a:ext cx="10287000" cy="2468880"/>
            <a:chOff x="0" y="0"/>
            <a:chExt cx="13716000" cy="3291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16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3716000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Reading the plot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D5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Left:</a:t>
              </a:r>
              <a:r>
                <a:rPr lang="en-US" sz="27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crisp “hot” jumps from 0 to 1 at 30 °C.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9E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Right: </a:t>
              </a:r>
              <a:r>
                <a:rPr lang="en-US" sz="27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fuzzy “hot” rises smoothly from 24 to 34 °C; 29.9 gives 0.59 and 30.0 gives 0.60.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07240" y="2400300"/>
            <a:ext cx="5257343" cy="4183380"/>
            <a:chOff x="0" y="0"/>
            <a:chExt cx="7009790" cy="5577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09765" cy="5577840"/>
            </a:xfrm>
            <a:custGeom>
              <a:avLst/>
              <a:gdLst/>
              <a:ahLst/>
              <a:cxnLst/>
              <a:rect r="r" b="b" t="t" l="l"/>
              <a:pathLst>
                <a:path h="5577840" w="700976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26885" y="0"/>
                  </a:lnTo>
                  <a:cubicBezTo>
                    <a:pt x="6927850" y="0"/>
                    <a:pt x="7009765" y="81915"/>
                    <a:pt x="7009765" y="182880"/>
                  </a:cubicBezTo>
                  <a:lnTo>
                    <a:pt x="7009765" y="5394960"/>
                  </a:lnTo>
                  <a:cubicBezTo>
                    <a:pt x="7009765" y="5495925"/>
                    <a:pt x="6927850" y="5577840"/>
                    <a:pt x="6826885" y="5577840"/>
                  </a:cubicBezTo>
                  <a:lnTo>
                    <a:pt x="182880" y="5577840"/>
                  </a:lnTo>
                  <a:cubicBezTo>
                    <a:pt x="81915" y="5577840"/>
                    <a:pt x="0" y="5495925"/>
                    <a:pt x="0" y="5394960"/>
                  </a:cubicBezTo>
                  <a:close/>
                </a:path>
              </a:pathLst>
            </a:custGeom>
            <a:solidFill>
              <a:srgbClr val="DCEE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08992" y="2400300"/>
            <a:ext cx="4653839" cy="4183380"/>
            <a:chOff x="0" y="0"/>
            <a:chExt cx="6205118" cy="5577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05118" cy="5577840"/>
            </a:xfrm>
            <a:custGeom>
              <a:avLst/>
              <a:gdLst/>
              <a:ahLst/>
              <a:cxnLst/>
              <a:rect r="r" b="b" t="t" l="l"/>
              <a:pathLst>
                <a:path h="5577840" w="6205118">
                  <a:moveTo>
                    <a:pt x="0" y="0"/>
                  </a:moveTo>
                  <a:lnTo>
                    <a:pt x="6205118" y="0"/>
                  </a:lnTo>
                  <a:lnTo>
                    <a:pt x="6205118" y="5577840"/>
                  </a:lnTo>
                  <a:lnTo>
                    <a:pt x="0" y="5577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333" t="0" r="-6533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205118" cy="5634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fuzzy set A has a membership function </a:t>
              </a: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μA(x)</a:t>
              </a:r>
              <a:r>
                <a:rPr lang="en-US" sz="27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between 0 and 1: the degree to which x belongs to A. A crisp set is the special case where only 0 and 1 occur.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07240" y="6789420"/>
            <a:ext cx="5257343" cy="2331720"/>
            <a:chOff x="0" y="0"/>
            <a:chExt cx="7009790" cy="3108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09765" cy="3108960"/>
            </a:xfrm>
            <a:custGeom>
              <a:avLst/>
              <a:gdLst/>
              <a:ahLst/>
              <a:cxnLst/>
              <a:rect r="r" b="b" t="t" l="l"/>
              <a:pathLst>
                <a:path h="3108960" w="700976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26885" y="0"/>
                  </a:lnTo>
                  <a:cubicBezTo>
                    <a:pt x="6927850" y="0"/>
                    <a:pt x="7009765" y="81915"/>
                    <a:pt x="7009765" y="182880"/>
                  </a:cubicBezTo>
                  <a:lnTo>
                    <a:pt x="7009765" y="2926080"/>
                  </a:lnTo>
                  <a:cubicBezTo>
                    <a:pt x="7009765" y="3027045"/>
                    <a:pt x="6927850" y="3108960"/>
                    <a:pt x="6826885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508992" y="6789420"/>
            <a:ext cx="4653839" cy="2331720"/>
            <a:chOff x="0" y="0"/>
            <a:chExt cx="6205118" cy="3108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05118" cy="3108960"/>
            </a:xfrm>
            <a:custGeom>
              <a:avLst/>
              <a:gdLst/>
              <a:ahLst/>
              <a:cxnLst/>
              <a:rect r="r" b="b" t="t" l="l"/>
              <a:pathLst>
                <a:path h="3108960" w="6205118">
                  <a:moveTo>
                    <a:pt x="0" y="0"/>
                  </a:moveTo>
                  <a:lnTo>
                    <a:pt x="6205118" y="0"/>
                  </a:lnTo>
                  <a:lnTo>
                    <a:pt x="6205118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284" t="0" r="-1428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205118" cy="315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L. A. Zadeh, “Fuzzy sets,” </a:t>
              </a:r>
              <a:r>
                <a:rPr lang="en-US" b="true" sz="2325" i="true">
                  <a:solidFill>
                    <a:srgbClr val="1F293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Information and Control</a:t>
              </a:r>
              <a:r>
                <a:rPr lang="en-US" sz="2325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1965: a class of objects with “a continuum of grades of membership”.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6 · FUZZY LOGIC, THE BASIC IDEA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30 °C is warm to degree 0.4 and hot to degree 0.6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3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 membership functions; plot computed in the demo notebook (appendix).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400300"/>
            <a:ext cx="9601200" cy="4527394"/>
            <a:chOff x="0" y="0"/>
            <a:chExt cx="12801600" cy="6036526"/>
          </a:xfrm>
        </p:grpSpPr>
        <p:sp>
          <p:nvSpPr>
            <p:cNvPr name="Freeform 20" id="20" descr="Membership curves: warm is a trapezoid and hot is a ramp; at 30 degrees Celsius warm equals 0.4 and hot equals 0.6"/>
            <p:cNvSpPr/>
            <p:nvPr/>
          </p:nvSpPr>
          <p:spPr>
            <a:xfrm flipH="false" flipV="false" rot="0">
              <a:off x="0" y="0"/>
              <a:ext cx="12801600" cy="6036564"/>
            </a:xfrm>
            <a:custGeom>
              <a:avLst/>
              <a:gdLst/>
              <a:ahLst/>
              <a:cxnLst/>
              <a:rect r="r" b="b" t="t" l="l"/>
              <a:pathLst>
                <a:path h="60365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036564"/>
                  </a:lnTo>
                  <a:lnTo>
                    <a:pt x="0" y="6036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767060" y="2400300"/>
            <a:ext cx="6697523" cy="4526280"/>
            <a:chOff x="0" y="0"/>
            <a:chExt cx="8930030" cy="6035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30005" cy="6035040"/>
            </a:xfrm>
            <a:custGeom>
              <a:avLst/>
              <a:gdLst/>
              <a:ahLst/>
              <a:cxnLst/>
              <a:rect r="r" b="b" t="t" l="l"/>
              <a:pathLst>
                <a:path h="6035040" w="89300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747125" y="0"/>
                  </a:lnTo>
                  <a:cubicBezTo>
                    <a:pt x="8848090" y="0"/>
                    <a:pt x="8930005" y="81915"/>
                    <a:pt x="8930005" y="182880"/>
                  </a:cubicBezTo>
                  <a:lnTo>
                    <a:pt x="8930005" y="5852160"/>
                  </a:lnTo>
                  <a:cubicBezTo>
                    <a:pt x="8930005" y="5953125"/>
                    <a:pt x="8848090" y="6035040"/>
                    <a:pt x="8747125" y="6035040"/>
                  </a:cubicBezTo>
                  <a:lnTo>
                    <a:pt x="182880" y="6035040"/>
                  </a:lnTo>
                  <a:cubicBezTo>
                    <a:pt x="81915" y="6035040"/>
                    <a:pt x="0" y="5953125"/>
                    <a:pt x="0" y="585216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0" y="2400300"/>
            <a:ext cx="6286043" cy="4526280"/>
            <a:chOff x="0" y="0"/>
            <a:chExt cx="8381390" cy="6035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81390" cy="6035040"/>
            </a:xfrm>
            <a:custGeom>
              <a:avLst/>
              <a:gdLst/>
              <a:ahLst/>
              <a:cxnLst/>
              <a:rect r="r" b="b" t="t" l="l"/>
              <a:pathLst>
                <a:path h="6035040" w="8381390">
                  <a:moveTo>
                    <a:pt x="0" y="0"/>
                  </a:moveTo>
                  <a:lnTo>
                    <a:pt x="8381390" y="0"/>
                  </a:lnTo>
                  <a:lnTo>
                    <a:pt x="8381390" y="6035040"/>
                  </a:lnTo>
                  <a:lnTo>
                    <a:pt x="0" y="6035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385" t="0" r="-4238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381390" cy="6044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3F4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hot(T)  = (T - 24) / 10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3F4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clipped to 0 .. 1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3F4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warm(T) = trapezoid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3F4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(34 − T) / 10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3F4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3F4F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hot(30)  = (30-24)/10 = 0.6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3F4F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warm(30) = (34-30)/10 = 0.4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7338060"/>
            <a:ext cx="16641623" cy="1165860"/>
            <a:chOff x="0" y="0"/>
            <a:chExt cx="2218883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8805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5925" y="0"/>
                  </a:lnTo>
                  <a:cubicBezTo>
                    <a:pt x="22106889" y="0"/>
                    <a:pt x="22188805" y="81915"/>
                    <a:pt x="22188805" y="182880"/>
                  </a:cubicBezTo>
                  <a:lnTo>
                    <a:pt x="22188805" y="1371600"/>
                  </a:lnTo>
                  <a:cubicBezTo>
                    <a:pt x="22188805" y="1472565"/>
                    <a:pt x="22106889" y="1554480"/>
                    <a:pt x="22005925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7338060"/>
            <a:ext cx="15818663" cy="1165860"/>
            <a:chOff x="0" y="0"/>
            <a:chExt cx="2109155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09155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377" r="0" b="-21437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2109155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temperature, two sets, two degrees. A crisp rule would force a single label.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22960" y="8662035"/>
            <a:ext cx="1664162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shapes are design choices, usually taken from expert judgement or data.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7 · PROBABILITY AND MISSING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A positive test does not mean 90 % sure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Illustrative numbers created for this talk. Concepts: Russell and Norvig [1], ch. 12.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960" y="2009775"/>
            <a:ext cx="548640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Illustrative numbers, not real data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4389120"/>
            <a:ext cx="2606040" cy="1097280"/>
            <a:chOff x="0" y="0"/>
            <a:chExt cx="347472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74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74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291840" y="0"/>
                  </a:lnTo>
                  <a:cubicBezTo>
                    <a:pt x="3392805" y="0"/>
                    <a:pt x="3474720" y="81915"/>
                    <a:pt x="3474720" y="182880"/>
                  </a:cubicBezTo>
                  <a:lnTo>
                    <a:pt x="3474720" y="1280160"/>
                  </a:lnTo>
                  <a:cubicBezTo>
                    <a:pt x="3474720" y="1381125"/>
                    <a:pt x="3392805" y="1463040"/>
                    <a:pt x="3291840" y="1463040"/>
                  </a:cubicBezTo>
                  <a:lnTo>
                    <a:pt x="182880" y="1463040"/>
                  </a:lnTo>
                  <a:cubicBezTo>
                    <a:pt x="81915" y="1463040"/>
                    <a:pt x="0" y="1381125"/>
                    <a:pt x="0" y="128016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4389120"/>
            <a:ext cx="2606040" cy="1097280"/>
            <a:chOff x="0" y="0"/>
            <a:chExt cx="347472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74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4747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1,000 patients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37760" y="2743200"/>
            <a:ext cx="2743200" cy="1028700"/>
            <a:chOff x="0" y="0"/>
            <a:chExt cx="365760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74720" y="0"/>
                  </a:lnTo>
                  <a:cubicBezTo>
                    <a:pt x="3575685" y="0"/>
                    <a:pt x="3657600" y="81915"/>
                    <a:pt x="3657600" y="182880"/>
                  </a:cubicBezTo>
                  <a:lnTo>
                    <a:pt x="3657600" y="1188720"/>
                  </a:lnTo>
                  <a:cubicBezTo>
                    <a:pt x="3657600" y="1289685"/>
                    <a:pt x="3575685" y="1371600"/>
                    <a:pt x="3474720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37760" y="2743200"/>
            <a:ext cx="2743200" cy="1028700"/>
            <a:chOff x="0" y="0"/>
            <a:chExt cx="36576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6576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sick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37760" y="6035040"/>
            <a:ext cx="2743200" cy="1028700"/>
            <a:chOff x="0" y="0"/>
            <a:chExt cx="36576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74720" y="0"/>
                  </a:lnTo>
                  <a:cubicBezTo>
                    <a:pt x="3575685" y="0"/>
                    <a:pt x="3657600" y="81915"/>
                    <a:pt x="3657600" y="182880"/>
                  </a:cubicBezTo>
                  <a:lnTo>
                    <a:pt x="3657600" y="1188720"/>
                  </a:lnTo>
                  <a:cubicBezTo>
                    <a:pt x="3657600" y="1289685"/>
                    <a:pt x="3575685" y="1371600"/>
                    <a:pt x="3474720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37760" y="6035040"/>
            <a:ext cx="2743200" cy="1028700"/>
            <a:chOff x="0" y="0"/>
            <a:chExt cx="365760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6576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990 healthy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44990" y="2381250"/>
            <a:ext cx="3192780" cy="929640"/>
            <a:chOff x="0" y="0"/>
            <a:chExt cx="4257040" cy="1239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57040" cy="1239520"/>
            </a:xfrm>
            <a:custGeom>
              <a:avLst/>
              <a:gdLst/>
              <a:ahLst/>
              <a:cxnLst/>
              <a:rect r="r" b="b" t="t" l="l"/>
              <a:pathLst>
                <a:path h="1239520" w="4257040">
                  <a:moveTo>
                    <a:pt x="0" y="190754"/>
                  </a:moveTo>
                  <a:cubicBezTo>
                    <a:pt x="0" y="85344"/>
                    <a:pt x="85344" y="0"/>
                    <a:pt x="190754" y="0"/>
                  </a:cubicBezTo>
                  <a:lnTo>
                    <a:pt x="4066286" y="0"/>
                  </a:lnTo>
                  <a:cubicBezTo>
                    <a:pt x="4171569" y="0"/>
                    <a:pt x="4257040" y="85344"/>
                    <a:pt x="4257040" y="190754"/>
                  </a:cubicBezTo>
                  <a:lnTo>
                    <a:pt x="4257040" y="1048766"/>
                  </a:lnTo>
                  <a:cubicBezTo>
                    <a:pt x="4257040" y="1154049"/>
                    <a:pt x="4171696" y="1239520"/>
                    <a:pt x="4066286" y="1239520"/>
                  </a:cubicBezTo>
                  <a:lnTo>
                    <a:pt x="190754" y="1239520"/>
                  </a:lnTo>
                  <a:cubicBezTo>
                    <a:pt x="85344" y="1239520"/>
                    <a:pt x="0" y="1154176"/>
                    <a:pt x="0" y="1048766"/>
                  </a:cubicBezTo>
                  <a:close/>
                </a:path>
              </a:pathLst>
            </a:custGeom>
            <a:solidFill>
              <a:srgbClr val="D9F0E8"/>
            </a:solidFill>
            <a:ln w="38100" cap="sq">
              <a:solidFill>
                <a:srgbClr val="009E7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64040" y="2400300"/>
            <a:ext cx="3154680" cy="891540"/>
            <a:chOff x="0" y="0"/>
            <a:chExt cx="4206240" cy="1188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20624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test positive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64040" y="3566160"/>
            <a:ext cx="3154680" cy="891540"/>
            <a:chOff x="0" y="0"/>
            <a:chExt cx="420624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1005840"/>
                  </a:lnTo>
                  <a:cubicBezTo>
                    <a:pt x="4206240" y="1106805"/>
                    <a:pt x="4124325" y="1188720"/>
                    <a:pt x="4023360" y="1188720"/>
                  </a:cubicBezTo>
                  <a:lnTo>
                    <a:pt x="182880" y="1188720"/>
                  </a:lnTo>
                  <a:cubicBezTo>
                    <a:pt x="81915" y="1188720"/>
                    <a:pt x="0" y="1106805"/>
                    <a:pt x="0" y="10058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64040" y="3566160"/>
            <a:ext cx="3154680" cy="891540"/>
            <a:chOff x="0" y="0"/>
            <a:chExt cx="4206240" cy="1188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20624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test negative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44990" y="5673090"/>
            <a:ext cx="3192780" cy="929640"/>
            <a:chOff x="0" y="0"/>
            <a:chExt cx="4257040" cy="1239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57040" cy="1239520"/>
            </a:xfrm>
            <a:custGeom>
              <a:avLst/>
              <a:gdLst/>
              <a:ahLst/>
              <a:cxnLst/>
              <a:rect r="r" b="b" t="t" l="l"/>
              <a:pathLst>
                <a:path h="1239520" w="4257040">
                  <a:moveTo>
                    <a:pt x="0" y="190754"/>
                  </a:moveTo>
                  <a:cubicBezTo>
                    <a:pt x="0" y="85344"/>
                    <a:pt x="85344" y="0"/>
                    <a:pt x="190754" y="0"/>
                  </a:cubicBezTo>
                  <a:lnTo>
                    <a:pt x="4066286" y="0"/>
                  </a:lnTo>
                  <a:cubicBezTo>
                    <a:pt x="4171569" y="0"/>
                    <a:pt x="4257040" y="85344"/>
                    <a:pt x="4257040" y="190754"/>
                  </a:cubicBezTo>
                  <a:lnTo>
                    <a:pt x="4257040" y="1048766"/>
                  </a:lnTo>
                  <a:cubicBezTo>
                    <a:pt x="4257040" y="1154049"/>
                    <a:pt x="4171696" y="1239520"/>
                    <a:pt x="4066286" y="1239520"/>
                  </a:cubicBezTo>
                  <a:lnTo>
                    <a:pt x="190754" y="1239520"/>
                  </a:lnTo>
                  <a:cubicBezTo>
                    <a:pt x="85344" y="1239520"/>
                    <a:pt x="0" y="1154176"/>
                    <a:pt x="0" y="1048766"/>
                  </a:cubicBezTo>
                  <a:close/>
                </a:path>
              </a:pathLst>
            </a:custGeom>
            <a:solidFill>
              <a:srgbClr val="D9F0E8"/>
            </a:solidFill>
            <a:ln w="38100" cap="sq">
              <a:solidFill>
                <a:srgbClr val="009E7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464040" y="5692140"/>
            <a:ext cx="3154680" cy="891540"/>
            <a:chOff x="0" y="0"/>
            <a:chExt cx="420624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420624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 test positive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64040" y="6858000"/>
            <a:ext cx="3154680" cy="891540"/>
            <a:chOff x="0" y="0"/>
            <a:chExt cx="420624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023360" y="0"/>
                  </a:lnTo>
                  <a:cubicBezTo>
                    <a:pt x="4124325" y="0"/>
                    <a:pt x="4206240" y="81915"/>
                    <a:pt x="4206240" y="182880"/>
                  </a:cubicBezTo>
                  <a:lnTo>
                    <a:pt x="4206240" y="1005840"/>
                  </a:lnTo>
                  <a:cubicBezTo>
                    <a:pt x="4206240" y="1106805"/>
                    <a:pt x="4124325" y="1188720"/>
                    <a:pt x="4023360" y="1188720"/>
                  </a:cubicBezTo>
                  <a:lnTo>
                    <a:pt x="182880" y="1188720"/>
                  </a:lnTo>
                  <a:cubicBezTo>
                    <a:pt x="81915" y="1188720"/>
                    <a:pt x="0" y="1106805"/>
                    <a:pt x="0" y="100584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464040" y="6858000"/>
            <a:ext cx="3154680" cy="891540"/>
            <a:chOff x="0" y="0"/>
            <a:chExt cx="4206240" cy="1188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420624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891 test negative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-2880900">
            <a:off x="3030741" y="4088130"/>
            <a:ext cx="2305279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2810940">
            <a:off x="3055991" y="5734050"/>
            <a:ext cx="2254768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rot="-825600">
            <a:off x="7637459" y="3042285"/>
            <a:ext cx="1870091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1406700">
            <a:off x="7582567" y="3625215"/>
            <a:ext cx="1979867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rot="-825600">
            <a:off x="7637459" y="6334125"/>
            <a:ext cx="1870091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rot="1406700">
            <a:off x="7582567" y="6917055"/>
            <a:ext cx="1979867" cy="0"/>
          </a:xfrm>
          <a:prstGeom prst="line">
            <a:avLst/>
          </a:prstGeom>
          <a:ln cap="rnd" w="19050">
            <a:solidFill>
              <a:srgbClr val="6B72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2057400" y="3449955"/>
            <a:ext cx="19888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1 % are sick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331720" y="5850255"/>
            <a:ext cx="192024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99 % healthy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680960" y="2284095"/>
            <a:ext cx="178308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test finds 90 %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680960" y="5370195"/>
            <a:ext cx="178308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10 % false alarms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098780" y="2400300"/>
            <a:ext cx="4365803" cy="5349240"/>
            <a:chOff x="0" y="0"/>
            <a:chExt cx="5821070" cy="71323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21045" cy="7132320"/>
            </a:xfrm>
            <a:custGeom>
              <a:avLst/>
              <a:gdLst/>
              <a:ahLst/>
              <a:cxnLst/>
              <a:rect r="r" b="b" t="t" l="l"/>
              <a:pathLst>
                <a:path h="7132320" w="582104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638165" y="0"/>
                  </a:lnTo>
                  <a:cubicBezTo>
                    <a:pt x="5739130" y="0"/>
                    <a:pt x="5821045" y="81915"/>
                    <a:pt x="5821045" y="182880"/>
                  </a:cubicBezTo>
                  <a:lnTo>
                    <a:pt x="5821045" y="6949440"/>
                  </a:lnTo>
                  <a:cubicBezTo>
                    <a:pt x="5821045" y="7050405"/>
                    <a:pt x="5739130" y="7132320"/>
                    <a:pt x="5638165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D9F0E8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3441680" y="2567940"/>
            <a:ext cx="37033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441680" y="3067050"/>
            <a:ext cx="377190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≈ 8 %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441680" y="4537710"/>
            <a:ext cx="37719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Of 108 positive tests, only 9 are truly sick.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441680" y="6193155"/>
            <a:ext cx="37719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P(sick | positive) = 9 / 108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822960" y="8023860"/>
            <a:ext cx="16641623" cy="1069848"/>
            <a:chOff x="0" y="0"/>
            <a:chExt cx="22188830" cy="14264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1888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221888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5925" y="0"/>
                  </a:lnTo>
                  <a:cubicBezTo>
                    <a:pt x="22106889" y="0"/>
                    <a:pt x="22188805" y="81915"/>
                    <a:pt x="22188805" y="182880"/>
                  </a:cubicBezTo>
                  <a:lnTo>
                    <a:pt x="22188805" y="1243584"/>
                  </a:lnTo>
                  <a:cubicBezTo>
                    <a:pt x="22188805" y="1344549"/>
                    <a:pt x="22106889" y="1426464"/>
                    <a:pt x="22005925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34440" y="8023860"/>
            <a:ext cx="7406640" cy="1069848"/>
            <a:chOff x="0" y="0"/>
            <a:chExt cx="9875520" cy="14264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8755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87552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4B55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PROBABILITY  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P(A | B) = P(A and B) / P(B)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915400" y="8023860"/>
            <a:ext cx="8366760" cy="1069848"/>
            <a:chOff x="0" y="0"/>
            <a:chExt cx="11155680" cy="14264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155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382" r="0" b="-10238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155680" cy="145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4B55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BAYES’ THEOREM, AS INTUITION  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P(sick | +) = P(+ | sick) × P(sick) / P(+)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822960" y="9041892"/>
            <a:ext cx="16641623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Read “|” as “given”. Full treatment of Bayes’ theorem and Bayesian networks: Week 4.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7 · PROBABILITY AND MISSING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Why a value is missing matters as much as how much is missing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Mechanisms: D. B. Rubin [13]. Examples: own.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263140"/>
            <a:ext cx="5349240" cy="5897880"/>
            <a:chOff x="0" y="0"/>
            <a:chExt cx="7132320" cy="7863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3232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132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7680960"/>
                  </a:lnTo>
                  <a:cubicBezTo>
                    <a:pt x="7132320" y="7781925"/>
                    <a:pt x="7050405" y="7863840"/>
                    <a:pt x="6949440" y="7863840"/>
                  </a:cubicBezTo>
                  <a:lnTo>
                    <a:pt x="182880" y="7863840"/>
                  </a:lnTo>
                  <a:cubicBezTo>
                    <a:pt x="81915" y="7863840"/>
                    <a:pt x="0" y="7781925"/>
                    <a:pt x="0" y="76809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4440" y="2459355"/>
            <a:ext cx="4526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MCAR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440" y="3528060"/>
            <a:ext cx="45262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missing completely at random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440" y="4135755"/>
            <a:ext cx="45262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chance of being missing is unrelated to any value, observed or not.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97280" y="5692140"/>
            <a:ext cx="4800600" cy="2263140"/>
            <a:chOff x="0" y="0"/>
            <a:chExt cx="6400800" cy="3017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400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81915"/>
                    <a:pt x="6400800" y="182880"/>
                  </a:cubicBezTo>
                  <a:lnTo>
                    <a:pt x="6400800" y="2834640"/>
                  </a:lnTo>
                  <a:cubicBezTo>
                    <a:pt x="6400800" y="2935605"/>
                    <a:pt x="6318885" y="3017520"/>
                    <a:pt x="621792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03020" y="5692140"/>
            <a:ext cx="4389120" cy="2263140"/>
            <a:chOff x="0" y="0"/>
            <a:chExt cx="5852160" cy="3017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3017520"/>
            </a:xfrm>
            <a:custGeom>
              <a:avLst/>
              <a:gdLst/>
              <a:ahLst/>
              <a:cxnLst/>
              <a:rect r="r" b="b" t="t" l="l"/>
              <a:pathLst>
                <a:path h="3017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56" t="0" r="-1615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852160" cy="3055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4B55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example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lab tube breaks at random, so that patient’s glucose is lost.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69151" y="2263140"/>
            <a:ext cx="5349240" cy="5897880"/>
            <a:chOff x="0" y="0"/>
            <a:chExt cx="7132320" cy="7863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232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132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7680960"/>
                  </a:lnTo>
                  <a:cubicBezTo>
                    <a:pt x="7132320" y="7781925"/>
                    <a:pt x="7050405" y="7863840"/>
                    <a:pt x="6949440" y="7863840"/>
                  </a:cubicBezTo>
                  <a:lnTo>
                    <a:pt x="182880" y="7863840"/>
                  </a:lnTo>
                  <a:cubicBezTo>
                    <a:pt x="81915" y="7863840"/>
                    <a:pt x="0" y="7781925"/>
                    <a:pt x="0" y="76809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880631" y="2459355"/>
            <a:ext cx="4526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MAR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80631" y="3528060"/>
            <a:ext cx="45262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missing at random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80631" y="4135755"/>
            <a:ext cx="45262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chance of being missing depends only on values that were observed.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743471" y="5692140"/>
            <a:ext cx="4800600" cy="2263140"/>
            <a:chOff x="0" y="0"/>
            <a:chExt cx="6400800" cy="3017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400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81915"/>
                    <a:pt x="6400800" y="182880"/>
                  </a:cubicBezTo>
                  <a:lnTo>
                    <a:pt x="6400800" y="2834640"/>
                  </a:lnTo>
                  <a:cubicBezTo>
                    <a:pt x="6400800" y="2935605"/>
                    <a:pt x="6318885" y="3017520"/>
                    <a:pt x="621792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949211" y="5692140"/>
            <a:ext cx="4389120" cy="2263140"/>
            <a:chOff x="0" y="0"/>
            <a:chExt cx="5852160" cy="3017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52160" cy="3017520"/>
            </a:xfrm>
            <a:custGeom>
              <a:avLst/>
              <a:gdLst/>
              <a:ahLst/>
              <a:cxnLst/>
              <a:rect r="r" b="b" t="t" l="l"/>
              <a:pathLst>
                <a:path h="3017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56" t="0" r="-1615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852160" cy="3055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4B55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example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Older patients (age is recorded) are less often sent for a fasting glucose test.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93912" y="2241709"/>
            <a:ext cx="5392103" cy="5940742"/>
            <a:chOff x="0" y="0"/>
            <a:chExt cx="7189470" cy="79209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89470" cy="7920990"/>
            </a:xfrm>
            <a:custGeom>
              <a:avLst/>
              <a:gdLst/>
              <a:ahLst/>
              <a:cxnLst/>
              <a:rect r="r" b="b" t="t" l="l"/>
              <a:pathLst>
                <a:path h="7920990" w="718947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7005193" y="0"/>
                  </a:lnTo>
                  <a:cubicBezTo>
                    <a:pt x="7107048" y="0"/>
                    <a:pt x="7189470" y="82550"/>
                    <a:pt x="7189470" y="184277"/>
                  </a:cubicBezTo>
                  <a:lnTo>
                    <a:pt x="7189470" y="7736713"/>
                  </a:lnTo>
                  <a:cubicBezTo>
                    <a:pt x="7189470" y="7838567"/>
                    <a:pt x="7106920" y="7920990"/>
                    <a:pt x="7005193" y="7920990"/>
                  </a:cubicBezTo>
                  <a:lnTo>
                    <a:pt x="184277" y="7920990"/>
                  </a:lnTo>
                  <a:cubicBezTo>
                    <a:pt x="82550" y="7920990"/>
                    <a:pt x="0" y="7838440"/>
                    <a:pt x="0" y="7736713"/>
                  </a:cubicBezTo>
                  <a:close/>
                </a:path>
              </a:pathLst>
            </a:custGeom>
            <a:solidFill>
              <a:srgbClr val="F3F4F6"/>
            </a:solidFill>
            <a:ln w="42862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526823" y="2459355"/>
            <a:ext cx="4526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MNAR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26823" y="3528060"/>
            <a:ext cx="45262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missing not at random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26823" y="4135755"/>
            <a:ext cx="45262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The chance of being missing depends on the missing value itself.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389663" y="5692140"/>
            <a:ext cx="4800600" cy="2263140"/>
            <a:chOff x="0" y="0"/>
            <a:chExt cx="6400800" cy="3017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080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400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81915"/>
                    <a:pt x="6400800" y="182880"/>
                  </a:cubicBezTo>
                  <a:lnTo>
                    <a:pt x="6400800" y="2834640"/>
                  </a:lnTo>
                  <a:cubicBezTo>
                    <a:pt x="6400800" y="2935605"/>
                    <a:pt x="6318885" y="3017520"/>
                    <a:pt x="621792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95403" y="5692140"/>
            <a:ext cx="4389120" cy="2263140"/>
            <a:chOff x="0" y="0"/>
            <a:chExt cx="5852160" cy="3017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3017520"/>
            </a:xfrm>
            <a:custGeom>
              <a:avLst/>
              <a:gdLst/>
              <a:ahLst/>
              <a:cxnLst/>
              <a:rect r="r" b="b" t="t" l="l"/>
              <a:pathLst>
                <a:path h="3017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56" t="0" r="-16156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852160" cy="3055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4B55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example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 with very high glucose feel too ill to attend the follow-up, so exactly the high values are absent.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8298180"/>
            <a:ext cx="16641623" cy="960120"/>
            <a:chOff x="0" y="0"/>
            <a:chExt cx="2218883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883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31" r="0" b="-28773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218883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Observed data can suggest MCAR vs MAR, but MAR vs MNAR cannot be verified from the observed data alone.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7 · PROBABILITY AND MISSING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Every fix for missing data has a price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 computation on the Pima Indians Diabetes Database [14], [15] (demo notebook, Part A). Zeros recoded as missing for Glucose, BloodPressure, SkinThickness, Insulin and BMI.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232857" y="9494520"/>
            <a:ext cx="23172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2263140"/>
          <a:ext cx="16611600" cy="5238750"/>
        </p:xfrm>
        <a:graphic>
          <a:graphicData uri="http://schemas.openxmlformats.org/drawingml/2006/table">
            <a:tbl>
              <a:tblPr/>
              <a:tblGrid>
                <a:gridCol w="3291816"/>
                <a:gridCol w="4107687"/>
                <a:gridCol w="5127527"/>
                <a:gridCol w="4084571"/>
              </a:tblGrid>
              <a:tr h="760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Strategy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it does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Risk it introduces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Evidence from the demo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14262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Deletion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Drop every row with a missing value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Loses information; biased unless data are MCAR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Keeps only 392 of 768 patients (51.0 %)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62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Mean or median imputation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Fill gaps with the column mean or median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Shrinks variance; treats a guess as a measurement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Insulin spread falls from sd 118.8 to 85.0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0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Missing-value indicator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 a 0/1 column “was missing”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Keeps the fact of missingness, but the filled value is still invented; adds columns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374 patients flagged for insulin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822960" y="7886700"/>
            <a:ext cx="16641623" cy="1165860"/>
            <a:chOff x="0" y="0"/>
            <a:chExt cx="2218883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8805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880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005925" y="0"/>
                  </a:lnTo>
                  <a:cubicBezTo>
                    <a:pt x="22106889" y="0"/>
                    <a:pt x="22188805" y="81915"/>
                    <a:pt x="22188805" y="182880"/>
                  </a:cubicBezTo>
                  <a:lnTo>
                    <a:pt x="22188805" y="1371600"/>
                  </a:lnTo>
                  <a:cubicBezTo>
                    <a:pt x="22188805" y="1472565"/>
                    <a:pt x="22106889" y="1554480"/>
                    <a:pt x="22005925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7886700"/>
            <a:ext cx="15818663" cy="1165860"/>
            <a:chOff x="0" y="0"/>
            <a:chExt cx="2109155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9155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91550">
                  <a:moveTo>
                    <a:pt x="0" y="0"/>
                  </a:moveTo>
                  <a:lnTo>
                    <a:pt x="21091550" y="0"/>
                  </a:lnTo>
                  <a:lnTo>
                    <a:pt x="2109155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377" r="0" b="-2143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109155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Each fix silently assumes something about why the data are missing.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7 · PROBABILITY AND MISSING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Three tools, three different questions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 synthesis after Zadeh [12] and Russell and Norvig [1].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2194560"/>
          <a:ext cx="16592550" cy="6762750"/>
        </p:xfrm>
        <a:graphic>
          <a:graphicData uri="http://schemas.openxmlformats.org/drawingml/2006/table">
            <a:tbl>
              <a:tblPr/>
              <a:tblGrid>
                <a:gridCol w="3152218"/>
                <a:gridCol w="4374622"/>
                <a:gridCol w="4510445"/>
                <a:gridCol w="4555266"/>
              </a:tblGrid>
              <a:tr h="7638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Crisp logic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Fuzzy logic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Probability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E8"/>
                    </a:solidFill>
                  </a:tcPr>
                </a:tc>
              </a:tr>
              <a:tr h="1365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Question it answers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 x in the set: yes or no?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 what degree does x fit the concept?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How likely is the event, given what I know?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5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 of uncertainty handled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None: assumes sharp concepts and exact facts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Vagueness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Randomness and lack of knowledge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97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Suitable application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Legal-age check; regulatory pass/fail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Comfort or risk labels such as “hot” or “high risk”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Diagnosis from test results; weather forecast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73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4B556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Jumps at the threshold; no degrees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Degrees depend on chosen membership functions; not a measure of chance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Needs data or priors; cannot define a vague word by itself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Smith et al. [14]; CSV copy from the plotly/datasets repository [15].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263140"/>
            <a:ext cx="7680960" cy="4389120"/>
            <a:chOff x="0" y="0"/>
            <a:chExt cx="10241280" cy="5852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5669280"/>
                  </a:lnTo>
                  <a:cubicBezTo>
                    <a:pt x="10241280" y="5770245"/>
                    <a:pt x="10159365" y="5852160"/>
                    <a:pt x="10058400" y="5852160"/>
                  </a:cubicBezTo>
                  <a:lnTo>
                    <a:pt x="182880" y="5852160"/>
                  </a:lnTo>
                  <a:cubicBezTo>
                    <a:pt x="81915" y="5852160"/>
                    <a:pt x="0" y="5770245"/>
                    <a:pt x="0" y="566928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2743200"/>
            <a:ext cx="1234440" cy="1234440"/>
            <a:chOff x="0" y="0"/>
            <a:chExt cx="1645920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8361" y="3027121"/>
            <a:ext cx="666598" cy="666598"/>
            <a:chOff x="0" y="0"/>
            <a:chExt cx="888797" cy="888797"/>
          </a:xfrm>
        </p:grpSpPr>
        <p:sp>
          <p:nvSpPr>
            <p:cNvPr name="Freeform 21" id="21" descr="database"/>
            <p:cNvSpPr/>
            <p:nvPr/>
          </p:nvSpPr>
          <p:spPr>
            <a:xfrm flipH="false" flipV="false" rot="0">
              <a:off x="0" y="0"/>
              <a:ext cx="888746" cy="888746"/>
            </a:xfrm>
            <a:custGeom>
              <a:avLst/>
              <a:gdLst/>
              <a:ahLst/>
              <a:cxnLst/>
              <a:rect r="r" b="b" t="t" l="l"/>
              <a:pathLst>
                <a:path h="888746" w="888746">
                  <a:moveTo>
                    <a:pt x="0" y="0"/>
                  </a:moveTo>
                  <a:lnTo>
                    <a:pt x="888746" y="0"/>
                  </a:lnTo>
                  <a:lnTo>
                    <a:pt x="888746" y="888746"/>
                  </a:lnTo>
                  <a:lnTo>
                    <a:pt x="0" y="888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811780" y="2811780"/>
            <a:ext cx="5417820" cy="1165860"/>
            <a:chOff x="0" y="0"/>
            <a:chExt cx="722376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23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48" r="0" b="-405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2237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F293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Pima Indians Diabetes Database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15400" y="2263140"/>
            <a:ext cx="8549183" cy="1371600"/>
            <a:chOff x="0" y="0"/>
            <a:chExt cx="1139891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98886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3988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216005" y="0"/>
                  </a:lnTo>
                  <a:cubicBezTo>
                    <a:pt x="11316970" y="0"/>
                    <a:pt x="11398886" y="81915"/>
                    <a:pt x="11398886" y="182880"/>
                  </a:cubicBezTo>
                  <a:lnTo>
                    <a:pt x="11398886" y="1645920"/>
                  </a:lnTo>
                  <a:cubicBezTo>
                    <a:pt x="11398886" y="1746885"/>
                    <a:pt x="11316970" y="1828800"/>
                    <a:pt x="11216005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89720" y="2537460"/>
            <a:ext cx="822960" cy="822960"/>
            <a:chOff x="0" y="0"/>
            <a:chExt cx="1097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89720" y="2537460"/>
            <a:ext cx="822960" cy="822960"/>
            <a:chOff x="0" y="0"/>
            <a:chExt cx="10972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355580" y="2263140"/>
            <a:ext cx="6903263" cy="1371600"/>
            <a:chOff x="0" y="0"/>
            <a:chExt cx="920435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0435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204350">
                  <a:moveTo>
                    <a:pt x="0" y="0"/>
                  </a:moveTo>
                  <a:lnTo>
                    <a:pt x="9204350" y="0"/>
                  </a:lnTo>
                  <a:lnTo>
                    <a:pt x="920435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68" r="0" b="-48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920435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 them, and find the hidden zeros.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15400" y="3771900"/>
            <a:ext cx="8549183" cy="1371600"/>
            <a:chOff x="0" y="0"/>
            <a:chExt cx="1139891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98886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3988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216005" y="0"/>
                  </a:lnTo>
                  <a:cubicBezTo>
                    <a:pt x="11316970" y="0"/>
                    <a:pt x="11398886" y="81915"/>
                    <a:pt x="11398886" y="182880"/>
                  </a:cubicBezTo>
                  <a:lnTo>
                    <a:pt x="11398886" y="1645920"/>
                  </a:lnTo>
                  <a:cubicBezTo>
                    <a:pt x="11398886" y="1746885"/>
                    <a:pt x="11316970" y="1828800"/>
                    <a:pt x="11216005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89720" y="4046220"/>
            <a:ext cx="822960" cy="822960"/>
            <a:chOff x="0" y="0"/>
            <a:chExt cx="1097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89720" y="4046220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355580" y="3771900"/>
            <a:ext cx="6903263" cy="1371600"/>
            <a:chOff x="0" y="0"/>
            <a:chExt cx="920435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0435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204350">
                  <a:moveTo>
                    <a:pt x="0" y="0"/>
                  </a:moveTo>
                  <a:lnTo>
                    <a:pt x="9204350" y="0"/>
                  </a:lnTo>
                  <a:lnTo>
                    <a:pt x="920435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68" r="0" b="-4806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920435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Crisp vs fuzzy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variable, two definitions of “obese”.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915400" y="5280660"/>
            <a:ext cx="8549183" cy="1371600"/>
            <a:chOff x="0" y="0"/>
            <a:chExt cx="11398910" cy="1828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398886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39888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216005" y="0"/>
                  </a:lnTo>
                  <a:cubicBezTo>
                    <a:pt x="11316970" y="0"/>
                    <a:pt x="11398886" y="81915"/>
                    <a:pt x="11398886" y="182880"/>
                  </a:cubicBezTo>
                  <a:lnTo>
                    <a:pt x="11398886" y="1645920"/>
                  </a:lnTo>
                  <a:cubicBezTo>
                    <a:pt x="11398886" y="1746885"/>
                    <a:pt x="11316970" y="1828800"/>
                    <a:pt x="11216005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89720" y="5554980"/>
            <a:ext cx="822960" cy="822960"/>
            <a:chOff x="0" y="0"/>
            <a:chExt cx="10972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89720" y="5554980"/>
            <a:ext cx="822960" cy="822960"/>
            <a:chOff x="0" y="0"/>
            <a:chExt cx="109728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355580" y="5280660"/>
            <a:ext cx="6903263" cy="1371600"/>
            <a:chOff x="0" y="0"/>
            <a:chExt cx="920435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0435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204350">
                  <a:moveTo>
                    <a:pt x="0" y="0"/>
                  </a:moveTo>
                  <a:lnTo>
                    <a:pt x="9204350" y="0"/>
                  </a:lnTo>
                  <a:lnTo>
                    <a:pt x="920435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68" r="0" b="-4806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920435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data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does a bigger sample fix, and what not?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08672" y="6833235"/>
            <a:ext cx="17045511" cy="2575941"/>
            <a:chOff x="0" y="0"/>
            <a:chExt cx="22727348" cy="34345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727323" cy="3434588"/>
            </a:xfrm>
            <a:custGeom>
              <a:avLst/>
              <a:gdLst/>
              <a:ahLst/>
              <a:cxnLst/>
              <a:rect r="r" b="b" t="t" l="l"/>
              <a:pathLst>
                <a:path h="3434588" w="22727323">
                  <a:moveTo>
                    <a:pt x="0" y="221532"/>
                  </a:moveTo>
                  <a:cubicBezTo>
                    <a:pt x="0" y="99151"/>
                    <a:pt x="84798" y="0"/>
                    <a:pt x="189465" y="0"/>
                  </a:cubicBezTo>
                  <a:lnTo>
                    <a:pt x="22537858" y="0"/>
                  </a:lnTo>
                  <a:cubicBezTo>
                    <a:pt x="22642526" y="0"/>
                    <a:pt x="22727323" y="99151"/>
                    <a:pt x="22727323" y="221532"/>
                  </a:cubicBezTo>
                  <a:lnTo>
                    <a:pt x="22727323" y="3213056"/>
                  </a:lnTo>
                  <a:cubicBezTo>
                    <a:pt x="22727323" y="3335437"/>
                    <a:pt x="22642526" y="3434588"/>
                    <a:pt x="22537858" y="3434588"/>
                  </a:cubicBezTo>
                  <a:lnTo>
                    <a:pt x="189465" y="3434588"/>
                  </a:lnTo>
                  <a:cubicBezTo>
                    <a:pt x="84798" y="3434588"/>
                    <a:pt x="0" y="3335437"/>
                    <a:pt x="0" y="321305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6B4E9"/>
              </a:solidFill>
              <a:prstDash val="dash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34440" y="6995160"/>
            <a:ext cx="10550402" cy="2125980"/>
            <a:chOff x="0" y="0"/>
            <a:chExt cx="14067202" cy="2834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067203" cy="2834640"/>
            </a:xfrm>
            <a:custGeom>
              <a:avLst/>
              <a:gdLst/>
              <a:ahLst/>
              <a:cxnLst/>
              <a:rect r="r" b="b" t="t" l="l"/>
              <a:pathLst>
                <a:path h="2834640" w="14067203">
                  <a:moveTo>
                    <a:pt x="0" y="0"/>
                  </a:moveTo>
                  <a:lnTo>
                    <a:pt x="14067203" y="0"/>
                  </a:lnTo>
                  <a:lnTo>
                    <a:pt x="14067203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110" r="-11803" b="-581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4067202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Notebook: W01_UncertaintyDemo_Team01.ipynb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top to bottom in Google Colab in about 30 seconds.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u="sng">
                  <a:solidFill>
                    <a:srgbClr val="D5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colab.research.google.com/github/ahmedtayel714/Advanced-AI-and-Uncertainty--W1/blob/main/W01_UncertaintyDemo_Team01.ipynb"/>
                </a:rPr>
                <a:t>Colab share link here</a:t>
              </a:r>
              <a:r>
                <a:rPr lang="en-US" sz="2250">
                  <a:solidFill>
                    <a:srgbClr val="D55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: </a:t>
              </a:r>
            </a:p>
            <a:p>
              <a:pPr algn="just">
                <a:lnSpc>
                  <a:spcPts val="2542"/>
                </a:lnSpc>
              </a:pPr>
              <a:r>
                <a:rPr lang="en-US" sz="2250">
                  <a:solidFill>
                    <a:srgbClr val="D55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https://colab.research.google.com/github/ahmedtayel714/Advanced-AI-and-Uncertainty--W1/blob/main/W01_UncertaintyDemo_Team01.ipynb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851335" y="7026379"/>
            <a:ext cx="2312038" cy="2192488"/>
            <a:chOff x="0" y="0"/>
            <a:chExt cx="2311400" cy="219188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11400" cy="2191883"/>
            </a:xfrm>
            <a:custGeom>
              <a:avLst/>
              <a:gdLst/>
              <a:ahLst/>
              <a:cxnLst/>
              <a:rect r="r" b="b" t="t" l="l"/>
              <a:pathLst>
                <a:path h="2191883" w="2311400">
                  <a:moveTo>
                    <a:pt x="0" y="175351"/>
                  </a:moveTo>
                  <a:cubicBezTo>
                    <a:pt x="0" y="78522"/>
                    <a:pt x="82804" y="0"/>
                    <a:pt x="184912" y="0"/>
                  </a:cubicBezTo>
                  <a:lnTo>
                    <a:pt x="2126488" y="0"/>
                  </a:lnTo>
                  <a:cubicBezTo>
                    <a:pt x="2228596" y="0"/>
                    <a:pt x="2311400" y="78522"/>
                    <a:pt x="2311400" y="175351"/>
                  </a:cubicBezTo>
                  <a:lnTo>
                    <a:pt x="2311400" y="2016533"/>
                  </a:lnTo>
                  <a:cubicBezTo>
                    <a:pt x="2311400" y="2113361"/>
                    <a:pt x="2228596" y="2191883"/>
                    <a:pt x="2126488" y="2191883"/>
                  </a:cubicBezTo>
                  <a:lnTo>
                    <a:pt x="184912" y="2191883"/>
                  </a:lnTo>
                  <a:cubicBezTo>
                    <a:pt x="82804" y="2191883"/>
                    <a:pt x="0" y="2113361"/>
                    <a:pt x="0" y="2016533"/>
                  </a:cubicBezTo>
                  <a:close/>
                </a:path>
              </a:pathLst>
            </a:custGeom>
            <a:blipFill>
              <a:blip r:embed="rId5"/>
              <a:stretch>
                <a:fillRect l="0" t="-2726" r="0" b="-2726"/>
              </a:stretch>
            </a:blipFill>
            <a:ln w="19050" cap="sq">
              <a:solidFill>
                <a:srgbClr val="9CA3AF"/>
              </a:solidFill>
              <a:prstDash val="dash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8 · LIVE DEMO AND CONNECTION TO THE COURSE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Live demo: real patient data, three questions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71600" y="4400550"/>
            <a:ext cx="672084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768 women aged 21 or older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8 measurements + diabetes outcome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NIDDK; Smith et al. (1988)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8 · LIVE DEMO AND CONNECTION TO THE COURSE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Three lines from the demo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2263140"/>
            <a:ext cx="9395460" cy="6789420"/>
            <a:chOff x="0" y="0"/>
            <a:chExt cx="12527280" cy="9052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27280" cy="9052560"/>
            </a:xfrm>
            <a:custGeom>
              <a:avLst/>
              <a:gdLst/>
              <a:ahLst/>
              <a:cxnLst/>
              <a:rect r="r" b="b" t="t" l="l"/>
              <a:pathLst>
                <a:path h="9052560" w="12527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344400" y="0"/>
                  </a:lnTo>
                  <a:cubicBezTo>
                    <a:pt x="12445365" y="0"/>
                    <a:pt x="12527280" y="81915"/>
                    <a:pt x="12527280" y="182880"/>
                  </a:cubicBezTo>
                  <a:lnTo>
                    <a:pt x="12527280" y="8869680"/>
                  </a:lnTo>
                  <a:cubicBezTo>
                    <a:pt x="12527280" y="8970645"/>
                    <a:pt x="12445365" y="9052560"/>
                    <a:pt x="12344400" y="9052560"/>
                  </a:cubicBezTo>
                  <a:lnTo>
                    <a:pt x="182880" y="9052560"/>
                  </a:lnTo>
                  <a:cubicBezTo>
                    <a:pt x="81915" y="9052560"/>
                    <a:pt x="0" y="8970645"/>
                    <a:pt x="0" y="8869680"/>
                  </a:cubicBezTo>
                  <a:close/>
                </a:path>
              </a:pathLst>
            </a:custGeom>
            <a:solidFill>
              <a:srgbClr val="1F293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97280" y="2352675"/>
            <a:ext cx="9052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9CA3A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From the demo notebook (context lines omitted)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7280" y="2901315"/>
            <a:ext cx="9052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6B4E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· hidden zeros become missing values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7280" y="3419475"/>
            <a:ext cx="905256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df[cols] = df[cols].replace(0, np.nan)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df[cols].isna().sum()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7280" y="5233035"/>
            <a:ext cx="9052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6B4E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 · crisp threshold vs fuzzy membership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" y="5751195"/>
            <a:ext cx="905256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crisp = (bmi &gt;= 30).astype(float)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fuzzy = np.clip((bmi - 27) / 6, 0, 1)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561320" y="2263140"/>
            <a:ext cx="6903263" cy="2125980"/>
            <a:chOff x="0" y="0"/>
            <a:chExt cx="920435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04325" cy="2834640"/>
            </a:xfrm>
            <a:custGeom>
              <a:avLst/>
              <a:gdLst/>
              <a:ahLst/>
              <a:cxnLst/>
              <a:rect r="r" b="b" t="t" l="l"/>
              <a:pathLst>
                <a:path h="2834640" w="920432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021445" y="0"/>
                  </a:lnTo>
                  <a:cubicBezTo>
                    <a:pt x="9122410" y="0"/>
                    <a:pt x="9204325" y="81915"/>
                    <a:pt x="9204325" y="182880"/>
                  </a:cubicBezTo>
                  <a:lnTo>
                    <a:pt x="9204325" y="2651760"/>
                  </a:lnTo>
                  <a:cubicBezTo>
                    <a:pt x="9204325" y="2752725"/>
                    <a:pt x="9122410" y="2834640"/>
                    <a:pt x="9021445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725912" y="2694346"/>
            <a:ext cx="3360420" cy="1263558"/>
            <a:chOff x="0" y="0"/>
            <a:chExt cx="4480560" cy="1684744"/>
          </a:xfrm>
        </p:grpSpPr>
        <p:sp>
          <p:nvSpPr>
            <p:cNvPr name="Freeform 26" id="26" descr="Bar chart of missing values per column after recoding zeros"/>
            <p:cNvSpPr/>
            <p:nvPr/>
          </p:nvSpPr>
          <p:spPr>
            <a:xfrm flipH="false" flipV="false" rot="0">
              <a:off x="0" y="0"/>
              <a:ext cx="4480560" cy="1684782"/>
            </a:xfrm>
            <a:custGeom>
              <a:avLst/>
              <a:gdLst/>
              <a:ahLst/>
              <a:cxnLst/>
              <a:rect r="r" b="b" t="t" l="l"/>
              <a:pathLst>
                <a:path h="168478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684782"/>
                  </a:lnTo>
                  <a:lnTo>
                    <a:pt x="0" y="1684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333220" y="2263140"/>
            <a:ext cx="2925623" cy="2125980"/>
            <a:chOff x="0" y="0"/>
            <a:chExt cx="3900830" cy="2834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0083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900830">
                  <a:moveTo>
                    <a:pt x="0" y="0"/>
                  </a:moveTo>
                  <a:lnTo>
                    <a:pt x="3900830" y="0"/>
                  </a:lnTo>
                  <a:lnTo>
                    <a:pt x="390083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235" t="0" r="-4323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90083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374 of 768 insulin values (48.7 %) were hidden zeros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561320" y="4594860"/>
            <a:ext cx="6903263" cy="2125980"/>
            <a:chOff x="0" y="0"/>
            <a:chExt cx="9204350" cy="283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04325" cy="2834640"/>
            </a:xfrm>
            <a:custGeom>
              <a:avLst/>
              <a:gdLst/>
              <a:ahLst/>
              <a:cxnLst/>
              <a:rect r="r" b="b" t="t" l="l"/>
              <a:pathLst>
                <a:path h="2834640" w="920432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021445" y="0"/>
                  </a:lnTo>
                  <a:cubicBezTo>
                    <a:pt x="9122410" y="0"/>
                    <a:pt x="9204325" y="81915"/>
                    <a:pt x="9204325" y="182880"/>
                  </a:cubicBezTo>
                  <a:lnTo>
                    <a:pt x="9204325" y="2651760"/>
                  </a:lnTo>
                  <a:cubicBezTo>
                    <a:pt x="9204325" y="2752725"/>
                    <a:pt x="9122410" y="2834640"/>
                    <a:pt x="9021445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725912" y="5028114"/>
            <a:ext cx="3360420" cy="1259481"/>
            <a:chOff x="0" y="0"/>
            <a:chExt cx="4480560" cy="1679308"/>
          </a:xfrm>
        </p:grpSpPr>
        <p:sp>
          <p:nvSpPr>
            <p:cNvPr name="Freeform 33" id="33" descr="BMI crisp threshold versus fuzzy ramp"/>
            <p:cNvSpPr/>
            <p:nvPr/>
          </p:nvSpPr>
          <p:spPr>
            <a:xfrm flipH="false" flipV="false" rot="0">
              <a:off x="0" y="0"/>
              <a:ext cx="4480560" cy="1679321"/>
            </a:xfrm>
            <a:custGeom>
              <a:avLst/>
              <a:gdLst/>
              <a:ahLst/>
              <a:cxnLst/>
              <a:rect r="r" b="b" t="t" l="l"/>
              <a:pathLst>
                <a:path h="1679321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679321"/>
                  </a:lnTo>
                  <a:lnTo>
                    <a:pt x="0" y="167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333220" y="4594860"/>
            <a:ext cx="2925623" cy="2125980"/>
            <a:chOff x="0" y="0"/>
            <a:chExt cx="3900830" cy="2834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0083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900830">
                  <a:moveTo>
                    <a:pt x="0" y="0"/>
                  </a:moveTo>
                  <a:lnTo>
                    <a:pt x="3900830" y="0"/>
                  </a:lnTo>
                  <a:lnTo>
                    <a:pt x="390083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235" t="0" r="-4323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90083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BMI 29.9 gives crisp 0, fuzzy 0.48; BMI 30.1 gives crisp 1, fuzzy 0.52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561320" y="6926580"/>
            <a:ext cx="6903263" cy="2125980"/>
            <a:chOff x="0" y="0"/>
            <a:chExt cx="9204350" cy="2834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04325" cy="2834640"/>
            </a:xfrm>
            <a:custGeom>
              <a:avLst/>
              <a:gdLst/>
              <a:ahLst/>
              <a:cxnLst/>
              <a:rect r="r" b="b" t="t" l="l"/>
              <a:pathLst>
                <a:path h="2834640" w="920432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021445" y="0"/>
                  </a:lnTo>
                  <a:cubicBezTo>
                    <a:pt x="9122410" y="0"/>
                    <a:pt x="9204325" y="81915"/>
                    <a:pt x="9204325" y="182880"/>
                  </a:cubicBezTo>
                  <a:lnTo>
                    <a:pt x="9204325" y="2651760"/>
                  </a:lnTo>
                  <a:cubicBezTo>
                    <a:pt x="9204325" y="2752725"/>
                    <a:pt x="9122410" y="2834640"/>
                    <a:pt x="9021445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51128" y="7029450"/>
            <a:ext cx="3109979" cy="1920240"/>
            <a:chOff x="0" y="0"/>
            <a:chExt cx="4146639" cy="2560320"/>
          </a:xfrm>
        </p:grpSpPr>
        <p:sp>
          <p:nvSpPr>
            <p:cNvPr name="Freeform 40" id="40" descr="Simulation with 20, 200 and 2000 samples"/>
            <p:cNvSpPr/>
            <p:nvPr/>
          </p:nvSpPr>
          <p:spPr>
            <a:xfrm flipH="false" flipV="false" rot="0">
              <a:off x="0" y="0"/>
              <a:ext cx="4146677" cy="2560320"/>
            </a:xfrm>
            <a:custGeom>
              <a:avLst/>
              <a:gdLst/>
              <a:ahLst/>
              <a:cxnLst/>
              <a:rect r="r" b="b" t="t" l="l"/>
              <a:pathLst>
                <a:path h="2560320" w="4146677">
                  <a:moveTo>
                    <a:pt x="0" y="0"/>
                  </a:moveTo>
                  <a:lnTo>
                    <a:pt x="4146677" y="0"/>
                  </a:lnTo>
                  <a:lnTo>
                    <a:pt x="4146677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333220" y="6926580"/>
            <a:ext cx="2925623" cy="2125980"/>
            <a:chOff x="0" y="0"/>
            <a:chExt cx="3900830" cy="2834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083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900830">
                  <a:moveTo>
                    <a:pt x="0" y="0"/>
                  </a:moveTo>
                  <a:lnTo>
                    <a:pt x="3900830" y="0"/>
                  </a:lnTo>
                  <a:lnTo>
                    <a:pt x="390083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235" t="0" r="-4323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90083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 spread 0.68, 0.22, 0.07 as n = 20, 200, 2,000; noise stays near 3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975992" y="1489710"/>
            <a:ext cx="7395458" cy="8637032"/>
          </a:xfrm>
          <a:custGeom>
            <a:avLst/>
            <a:gdLst/>
            <a:ahLst/>
            <a:cxnLst/>
            <a:rect r="r" b="b" t="t" l="l"/>
            <a:pathLst>
              <a:path h="8637032" w="7395458">
                <a:moveTo>
                  <a:pt x="0" y="0"/>
                </a:moveTo>
                <a:lnTo>
                  <a:pt x="7395458" y="0"/>
                </a:lnTo>
                <a:lnTo>
                  <a:pt x="7395458" y="8637032"/>
                </a:lnTo>
                <a:lnTo>
                  <a:pt x="0" y="8637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8 · LIVE DEMO AND CONNECTION TO THE COURSE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Live demo: real patient data, three questions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373380"/>
            <a:ext cx="1179576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 8 · LIVE DEMO AND CONNECTION TO THE COURSE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Final-project idea: an uncertainty-aware diabetes-risk screener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93040" y="411480"/>
            <a:ext cx="3076499" cy="219456"/>
            <a:chOff x="0" y="0"/>
            <a:chExt cx="4101998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1998" cy="292608"/>
            </a:xfrm>
            <a:custGeom>
              <a:avLst/>
              <a:gdLst/>
              <a:ahLst/>
              <a:cxnLst/>
              <a:rect r="r" b="b" t="t" l="l"/>
              <a:pathLst>
                <a:path h="292608" w="4101998">
                  <a:moveTo>
                    <a:pt x="0" y="0"/>
                  </a:moveTo>
                  <a:lnTo>
                    <a:pt x="4101998" y="0"/>
                  </a:lnTo>
                  <a:lnTo>
                    <a:pt x="410199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155" r="0" b="-2231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1998" cy="33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15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 4 OF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3373" y="399574"/>
            <a:ext cx="243268" cy="243268"/>
            <a:chOff x="0" y="0"/>
            <a:chExt cx="324358" cy="324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519989" y="399574"/>
            <a:ext cx="243268" cy="243268"/>
            <a:chOff x="0" y="0"/>
            <a:chExt cx="324358" cy="32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876605" y="399574"/>
            <a:ext cx="243268" cy="243268"/>
            <a:chOff x="0" y="0"/>
            <a:chExt cx="324358" cy="324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9CA3A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233221" y="399574"/>
            <a:ext cx="243268" cy="243268"/>
            <a:chOff x="0" y="0"/>
            <a:chExt cx="324358" cy="324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358" cy="324358"/>
            </a:xfrm>
            <a:custGeom>
              <a:avLst/>
              <a:gdLst/>
              <a:ahLst/>
              <a:cxnLst/>
              <a:rect r="r" b="b" t="t" l="l"/>
              <a:pathLst>
                <a:path h="324358" w="324358">
                  <a:moveTo>
                    <a:pt x="0" y="162179"/>
                  </a:moveTo>
                  <a:cubicBezTo>
                    <a:pt x="0" y="72644"/>
                    <a:pt x="72644" y="0"/>
                    <a:pt x="162179" y="0"/>
                  </a:cubicBezTo>
                  <a:cubicBezTo>
                    <a:pt x="251714" y="0"/>
                    <a:pt x="324358" y="72644"/>
                    <a:pt x="324358" y="162179"/>
                  </a:cubicBezTo>
                  <a:cubicBezTo>
                    <a:pt x="324358" y="251714"/>
                    <a:pt x="251714" y="324358"/>
                    <a:pt x="162179" y="324358"/>
                  </a:cubicBezTo>
                  <a:cubicBezTo>
                    <a:pt x="72644" y="324358"/>
                    <a:pt x="0" y="251714"/>
                    <a:pt x="0" y="162179"/>
                  </a:cubicBezTo>
                  <a:close/>
                </a:path>
              </a:pathLst>
            </a:custGeom>
            <a:solidFill>
              <a:srgbClr val="1F2937"/>
            </a:solidFill>
            <a:ln w="23812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409176"/>
            <a:ext cx="15499080" cy="630936"/>
            <a:chOff x="0" y="0"/>
            <a:chExt cx="20665440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65439" cy="841248"/>
            </a:xfrm>
            <a:custGeom>
              <a:avLst/>
              <a:gdLst/>
              <a:ahLst/>
              <a:cxnLst/>
              <a:rect r="r" b="b" t="t" l="l"/>
              <a:pathLst>
                <a:path h="841248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65440" cy="8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 design; building blocks as in Parts 3, 4, 6 and 7 of this talk.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2331720"/>
            <a:ext cx="3771900" cy="5966460"/>
            <a:chOff x="0" y="0"/>
            <a:chExt cx="5029200" cy="7955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92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7772400"/>
                  </a:lnTo>
                  <a:cubicBezTo>
                    <a:pt x="5029200" y="7873365"/>
                    <a:pt x="4947285" y="7955280"/>
                    <a:pt x="48463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2606040"/>
            <a:ext cx="822960" cy="822960"/>
            <a:chOff x="0" y="0"/>
            <a:chExt cx="10972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2606040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65860" y="3625215"/>
            <a:ext cx="30861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Data quality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5860" y="4341495"/>
            <a:ext cx="308610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Flag hidden zeros; add a missing-value indicator for every field.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5860" y="6829425"/>
            <a:ext cx="308610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REPRESENTS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65860" y="7228332"/>
            <a:ext cx="3086100" cy="754380"/>
            <a:chOff x="0" y="0"/>
            <a:chExt cx="41148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931920" y="0"/>
                  </a:lnTo>
                  <a:cubicBezTo>
                    <a:pt x="4032885" y="0"/>
                    <a:pt x="4114800" y="81915"/>
                    <a:pt x="4114800" y="182880"/>
                  </a:cubicBezTo>
                  <a:lnTo>
                    <a:pt x="4114800" y="822960"/>
                  </a:lnTo>
                  <a:cubicBezTo>
                    <a:pt x="4114800" y="923925"/>
                    <a:pt x="4032885" y="1005840"/>
                    <a:pt x="393192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7228332"/>
            <a:ext cx="3086100" cy="754380"/>
            <a:chOff x="0" y="0"/>
            <a:chExt cx="411480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114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data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337620">
            <a:off x="4611024" y="5266372"/>
            <a:ext cx="485680" cy="0"/>
          </a:xfrm>
          <a:prstGeom prst="line">
            <a:avLst/>
          </a:prstGeom>
          <a:ln cap="rnd" w="28575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5112868" y="2331720"/>
            <a:ext cx="3771900" cy="5966460"/>
            <a:chOff x="0" y="0"/>
            <a:chExt cx="5029200" cy="7955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292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7772400"/>
                  </a:lnTo>
                  <a:cubicBezTo>
                    <a:pt x="5029200" y="7873365"/>
                    <a:pt x="4947285" y="7955280"/>
                    <a:pt x="48463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55768" y="2606040"/>
            <a:ext cx="822960" cy="822960"/>
            <a:chOff x="0" y="0"/>
            <a:chExt cx="1097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455768" y="2606040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455768" y="3625215"/>
            <a:ext cx="30861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Fuzzy layer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455768" y="4341495"/>
            <a:ext cx="308610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Turn BMI, glucose and age into degrees, e.g. “obese 0.48”.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455768" y="6829425"/>
            <a:ext cx="308610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REPRESENTS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455768" y="7228332"/>
            <a:ext cx="3086100" cy="754380"/>
            <a:chOff x="0" y="0"/>
            <a:chExt cx="411480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931920" y="0"/>
                  </a:lnTo>
                  <a:cubicBezTo>
                    <a:pt x="4032885" y="0"/>
                    <a:pt x="4114800" y="81915"/>
                    <a:pt x="4114800" y="182880"/>
                  </a:cubicBezTo>
                  <a:lnTo>
                    <a:pt x="4114800" y="822960"/>
                  </a:lnTo>
                  <a:cubicBezTo>
                    <a:pt x="4114800" y="923925"/>
                    <a:pt x="4032885" y="1005840"/>
                    <a:pt x="393192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DCEEF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55768" y="7228332"/>
            <a:ext cx="3086100" cy="754380"/>
            <a:chOff x="0" y="0"/>
            <a:chExt cx="411480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4114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Vagueness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337620">
            <a:off x="8900932" y="5266372"/>
            <a:ext cx="485680" cy="0"/>
          </a:xfrm>
          <a:prstGeom prst="line">
            <a:avLst/>
          </a:prstGeom>
          <a:ln cap="rnd" w="28575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9402775" y="2331720"/>
            <a:ext cx="3771900" cy="5966460"/>
            <a:chOff x="0" y="0"/>
            <a:chExt cx="5029200" cy="7955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292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7772400"/>
                  </a:lnTo>
                  <a:cubicBezTo>
                    <a:pt x="5029200" y="7873365"/>
                    <a:pt x="4947285" y="7955280"/>
                    <a:pt x="48463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45675" y="2606040"/>
            <a:ext cx="822960" cy="822960"/>
            <a:chOff x="0" y="0"/>
            <a:chExt cx="1097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745675" y="2606040"/>
            <a:ext cx="822960" cy="822960"/>
            <a:chOff x="0" y="0"/>
            <a:chExt cx="109728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745675" y="3625215"/>
            <a:ext cx="30861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Risk model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45675" y="4341495"/>
            <a:ext cx="308610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a risk with a range; report noise and model doubt separately.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45675" y="6829425"/>
            <a:ext cx="308610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REPRESENTS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745675" y="7228332"/>
            <a:ext cx="1474470" cy="754380"/>
            <a:chOff x="0" y="0"/>
            <a:chExt cx="196596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65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659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783080" y="0"/>
                  </a:lnTo>
                  <a:cubicBezTo>
                    <a:pt x="1884045" y="0"/>
                    <a:pt x="1965960" y="81915"/>
                    <a:pt x="1965960" y="182880"/>
                  </a:cubicBezTo>
                  <a:lnTo>
                    <a:pt x="1965960" y="822960"/>
                  </a:lnTo>
                  <a:cubicBezTo>
                    <a:pt x="1965960" y="923925"/>
                    <a:pt x="1884045" y="1005840"/>
                    <a:pt x="178308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DDF0F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745675" y="7228332"/>
            <a:ext cx="1474470" cy="754380"/>
            <a:chOff x="0" y="0"/>
            <a:chExt cx="1965960" cy="10058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65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65960">
                  <a:moveTo>
                    <a:pt x="0" y="0"/>
                  </a:moveTo>
                  <a:lnTo>
                    <a:pt x="1965960" y="0"/>
                  </a:lnTo>
                  <a:lnTo>
                    <a:pt x="1965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643" t="0" r="-1564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9659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Aleatoric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357305" y="7228332"/>
            <a:ext cx="1474470" cy="754380"/>
            <a:chOff x="0" y="0"/>
            <a:chExt cx="196596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65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659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783080" y="0"/>
                  </a:lnTo>
                  <a:cubicBezTo>
                    <a:pt x="1884045" y="0"/>
                    <a:pt x="1965960" y="81915"/>
                    <a:pt x="1965960" y="182880"/>
                  </a:cubicBezTo>
                  <a:lnTo>
                    <a:pt x="1965960" y="822960"/>
                  </a:lnTo>
                  <a:cubicBezTo>
                    <a:pt x="1965960" y="923925"/>
                    <a:pt x="1884045" y="1005840"/>
                    <a:pt x="178308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F6E4E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357305" y="7228332"/>
            <a:ext cx="1474470" cy="754380"/>
            <a:chOff x="0" y="0"/>
            <a:chExt cx="1965960" cy="1005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65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65960">
                  <a:moveTo>
                    <a:pt x="0" y="0"/>
                  </a:moveTo>
                  <a:lnTo>
                    <a:pt x="1965960" y="0"/>
                  </a:lnTo>
                  <a:lnTo>
                    <a:pt x="1965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643" t="0" r="-1564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9659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Epistemic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337620">
            <a:off x="13190839" y="5266372"/>
            <a:ext cx="485680" cy="0"/>
          </a:xfrm>
          <a:prstGeom prst="line">
            <a:avLst/>
          </a:prstGeom>
          <a:ln cap="rnd" w="28575">
            <a:solidFill>
              <a:srgbClr val="6B728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2" id="72"/>
          <p:cNvGrpSpPr/>
          <p:nvPr/>
        </p:nvGrpSpPr>
        <p:grpSpPr>
          <a:xfrm rot="0">
            <a:off x="13692683" y="2331720"/>
            <a:ext cx="3771900" cy="5966460"/>
            <a:chOff x="0" y="0"/>
            <a:chExt cx="5029200" cy="7955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292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7772400"/>
                  </a:lnTo>
                  <a:cubicBezTo>
                    <a:pt x="5029200" y="7873365"/>
                    <a:pt x="4947285" y="7955280"/>
                    <a:pt x="48463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035583" y="2606040"/>
            <a:ext cx="822960" cy="822960"/>
            <a:chOff x="0" y="0"/>
            <a:chExt cx="1097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035583" y="2606040"/>
            <a:ext cx="822960" cy="822960"/>
            <a:chOff x="0" y="0"/>
            <a:chExt cx="109728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4035583" y="3625215"/>
            <a:ext cx="30861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Decision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035583" y="4341495"/>
            <a:ext cx="308610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Answer, or say “I am not sure: refer to a clinician”.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035583" y="6829425"/>
            <a:ext cx="308610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REPRESENTS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035583" y="7228332"/>
            <a:ext cx="3086100" cy="754380"/>
            <a:chOff x="0" y="0"/>
            <a:chExt cx="4114800" cy="1005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931920" y="0"/>
                  </a:lnTo>
                  <a:cubicBezTo>
                    <a:pt x="4032885" y="0"/>
                    <a:pt x="4114800" y="81915"/>
                    <a:pt x="4114800" y="182880"/>
                  </a:cubicBezTo>
                  <a:lnTo>
                    <a:pt x="4114800" y="822960"/>
                  </a:lnTo>
                  <a:cubicBezTo>
                    <a:pt x="4114800" y="923925"/>
                    <a:pt x="4032885" y="1005840"/>
                    <a:pt x="393192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035583" y="7228332"/>
            <a:ext cx="3086100" cy="754380"/>
            <a:chOff x="0" y="0"/>
            <a:chExt cx="4114800" cy="1005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41148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of the above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22960" y="8435340"/>
            <a:ext cx="16641623" cy="754380"/>
            <a:chOff x="0" y="0"/>
            <a:chExt cx="22188830" cy="1005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18883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839" r="0" b="-37983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2218883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1F2937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Each kind of uncertainty gets its own component.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000" r="0" b="-2099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525" y="0"/>
            <a:ext cx="18288000" cy="1484475"/>
          </a:xfrm>
          <a:custGeom>
            <a:avLst/>
            <a:gdLst/>
            <a:ahLst/>
            <a:cxnLst/>
            <a:rect r="r" b="b" t="t" l="l"/>
            <a:pathLst>
              <a:path h="1484475" w="18288000">
                <a:moveTo>
                  <a:pt x="0" y="0"/>
                </a:moveTo>
                <a:lnTo>
                  <a:pt x="18288000" y="0"/>
                </a:lnTo>
                <a:lnTo>
                  <a:pt x="18288000" y="1484475"/>
                </a:lnTo>
                <a:lnTo>
                  <a:pt x="0" y="1484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297" r="0" b="-713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9184" y="0"/>
            <a:ext cx="128016" cy="10287000"/>
            <a:chOff x="0" y="0"/>
            <a:chExt cx="17068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C84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23137"/>
            <a:ext cx="13716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4C842"/>
                </a:solidFill>
                <a:latin typeface="Cambria Bold"/>
                <a:ea typeface="Cambria Bold"/>
                <a:cs typeface="Cambria Bold"/>
                <a:sym typeface="Cambria Bold"/>
              </a:rPr>
              <a:t>Five things to remember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41623" y="9494520"/>
            <a:ext cx="8229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9CA3A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3635" y="1932834"/>
            <a:ext cx="17035527" cy="6821415"/>
            <a:chOff x="0" y="0"/>
            <a:chExt cx="4486723" cy="17965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6723" cy="1796587"/>
            </a:xfrm>
            <a:custGeom>
              <a:avLst/>
              <a:gdLst/>
              <a:ahLst/>
              <a:cxnLst/>
              <a:rect r="r" b="b" t="t" l="l"/>
              <a:pathLst>
                <a:path h="1796587" w="4486723">
                  <a:moveTo>
                    <a:pt x="0" y="0"/>
                  </a:moveTo>
                  <a:lnTo>
                    <a:pt x="4486723" y="0"/>
                  </a:lnTo>
                  <a:lnTo>
                    <a:pt x="4486723" y="1796587"/>
                  </a:lnTo>
                  <a:lnTo>
                    <a:pt x="0" y="1796587"/>
                  </a:lnTo>
                  <a:close/>
                </a:path>
              </a:pathLst>
            </a:custGeom>
            <a:solidFill>
              <a:srgbClr val="1E2D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6723" cy="1844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03910" y="2194560"/>
            <a:ext cx="16660673" cy="6117336"/>
            <a:chOff x="0" y="0"/>
            <a:chExt cx="22214230" cy="815644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120904"/>
              <a:ext cx="1184656" cy="1184656"/>
              <a:chOff x="0" y="0"/>
              <a:chExt cx="1184656" cy="118465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84656" cy="1184656"/>
              </a:xfrm>
              <a:custGeom>
                <a:avLst/>
                <a:gdLst/>
                <a:ahLst/>
                <a:cxnLst/>
                <a:rect r="r" b="b" t="t" l="l"/>
                <a:pathLst>
                  <a:path h="1184656" w="1184656">
                    <a:moveTo>
                      <a:pt x="0" y="592328"/>
                    </a:moveTo>
                    <a:cubicBezTo>
                      <a:pt x="0" y="265176"/>
                      <a:pt x="265176" y="0"/>
                      <a:pt x="592328" y="0"/>
                    </a:cubicBezTo>
                    <a:cubicBezTo>
                      <a:pt x="919480" y="0"/>
                      <a:pt x="1184656" y="265176"/>
                      <a:pt x="1184656" y="592328"/>
                    </a:cubicBezTo>
                    <a:cubicBezTo>
                      <a:pt x="1184656" y="919480"/>
                      <a:pt x="919480" y="1184656"/>
                      <a:pt x="592328" y="1184656"/>
                    </a:cubicBezTo>
                    <a:cubicBezTo>
                      <a:pt x="265176" y="1184656"/>
                      <a:pt x="0" y="919480"/>
                      <a:pt x="0" y="592328"/>
                    </a:cubicBezTo>
                    <a:close/>
                  </a:path>
                </a:pathLst>
              </a:custGeom>
              <a:solidFill>
                <a:srgbClr val="1F2937"/>
              </a:solidFill>
              <a:ln w="38100" cap="sq">
                <a:solidFill>
                  <a:srgbClr val="56B4E9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5400" y="146304"/>
              <a:ext cx="1133856" cy="1133856"/>
              <a:chOff x="0" y="0"/>
              <a:chExt cx="1133856" cy="113385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3856" cy="1133856"/>
              </a:xfrm>
              <a:custGeom>
                <a:avLst/>
                <a:gdLst/>
                <a:ahLst/>
                <a:cxnLst/>
                <a:rect r="r" b="b" t="t" l="l"/>
                <a:pathLst>
                  <a:path h="1133856" w="1133856">
                    <a:moveTo>
                      <a:pt x="0" y="0"/>
                    </a:moveTo>
                    <a:lnTo>
                      <a:pt x="1133856" y="0"/>
                    </a:lnTo>
                    <a:lnTo>
                      <a:pt x="1133856" y="1133856"/>
                    </a:lnTo>
                    <a:lnTo>
                      <a:pt x="0" y="113385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133856" cy="11433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sz="3300" b="true">
                    <a:solidFill>
                      <a:srgbClr val="56B4E9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1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762760" y="0"/>
              <a:ext cx="20451470" cy="1426464"/>
              <a:chOff x="0" y="0"/>
              <a:chExt cx="20451470" cy="142646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451469" cy="1426464"/>
              </a:xfrm>
              <a:custGeom>
                <a:avLst/>
                <a:gdLst/>
                <a:ahLst/>
                <a:cxnLst/>
                <a:rect r="r" b="b" t="t" l="l"/>
                <a:pathLst>
                  <a:path h="1426464" w="20451469">
                    <a:moveTo>
                      <a:pt x="635000" y="0"/>
                    </a:moveTo>
                    <a:lnTo>
                      <a:pt x="19816469" y="0"/>
                    </a:lnTo>
                    <a:cubicBezTo>
                      <a:pt x="20167171" y="0"/>
                      <a:pt x="20451469" y="284299"/>
                      <a:pt x="20451469" y="635000"/>
                    </a:cubicBezTo>
                    <a:lnTo>
                      <a:pt x="20451469" y="791464"/>
                    </a:lnTo>
                    <a:cubicBezTo>
                      <a:pt x="20451469" y="1142165"/>
                      <a:pt x="20167171" y="1426464"/>
                      <a:pt x="19816469" y="1426464"/>
                    </a:cubicBezTo>
                    <a:lnTo>
                      <a:pt x="635000" y="1426464"/>
                    </a:lnTo>
                    <a:cubicBezTo>
                      <a:pt x="466588" y="1426464"/>
                      <a:pt x="305073" y="1359562"/>
                      <a:pt x="185987" y="1240477"/>
                    </a:cubicBezTo>
                    <a:cubicBezTo>
                      <a:pt x="66902" y="1121391"/>
                      <a:pt x="0" y="959876"/>
                      <a:pt x="0" y="791464"/>
                    </a:cubicBezTo>
                    <a:lnTo>
                      <a:pt x="0" y="635000"/>
                    </a:ln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072B2">
                  <a:alpha val="1176"/>
                </a:srgbClr>
              </a:solidFill>
              <a:ln w="38100" cap="rnd">
                <a:solidFill>
                  <a:srgbClr val="56B4E9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20451470" cy="1493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60"/>
                  </a:lnSpc>
                </a:pP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Uncertainty comes in four kinds: randomness, vagueness, imprecision, missing data.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1803400"/>
              <a:ext cx="1184656" cy="1184656"/>
              <a:chOff x="0" y="0"/>
              <a:chExt cx="1184656" cy="118465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84656" cy="1184656"/>
              </a:xfrm>
              <a:custGeom>
                <a:avLst/>
                <a:gdLst/>
                <a:ahLst/>
                <a:cxnLst/>
                <a:rect r="r" b="b" t="t" l="l"/>
                <a:pathLst>
                  <a:path h="1184656" w="1184656">
                    <a:moveTo>
                      <a:pt x="0" y="592328"/>
                    </a:moveTo>
                    <a:cubicBezTo>
                      <a:pt x="0" y="265176"/>
                      <a:pt x="265176" y="0"/>
                      <a:pt x="592328" y="0"/>
                    </a:cubicBezTo>
                    <a:cubicBezTo>
                      <a:pt x="919480" y="0"/>
                      <a:pt x="1184656" y="265176"/>
                      <a:pt x="1184656" y="592328"/>
                    </a:cubicBezTo>
                    <a:cubicBezTo>
                      <a:pt x="1184656" y="919480"/>
                      <a:pt x="919480" y="1184656"/>
                      <a:pt x="592328" y="1184656"/>
                    </a:cubicBezTo>
                    <a:cubicBezTo>
                      <a:pt x="265176" y="1184656"/>
                      <a:pt x="0" y="919480"/>
                      <a:pt x="0" y="592328"/>
                    </a:cubicBezTo>
                    <a:close/>
                  </a:path>
                </a:pathLst>
              </a:custGeom>
              <a:solidFill>
                <a:srgbClr val="1F2937"/>
              </a:solidFill>
              <a:ln w="38100" cap="sq">
                <a:solidFill>
                  <a:srgbClr val="009E73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5400" y="1828800"/>
              <a:ext cx="1133856" cy="1133856"/>
              <a:chOff x="0" y="0"/>
              <a:chExt cx="1133856" cy="113385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33856" cy="1133856"/>
              </a:xfrm>
              <a:custGeom>
                <a:avLst/>
                <a:gdLst/>
                <a:ahLst/>
                <a:cxnLst/>
                <a:rect r="r" b="b" t="t" l="l"/>
                <a:pathLst>
                  <a:path h="1133856" w="1133856">
                    <a:moveTo>
                      <a:pt x="0" y="0"/>
                    </a:moveTo>
                    <a:lnTo>
                      <a:pt x="1133856" y="0"/>
                    </a:lnTo>
                    <a:lnTo>
                      <a:pt x="1133856" y="1133856"/>
                    </a:lnTo>
                    <a:lnTo>
                      <a:pt x="0" y="113385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133856" cy="11433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b="true" sz="3300">
                    <a:solidFill>
                      <a:srgbClr val="009E73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2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762760" y="1682496"/>
              <a:ext cx="20451470" cy="1426464"/>
              <a:chOff x="0" y="0"/>
              <a:chExt cx="20451470" cy="14264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0451469" cy="1426464"/>
              </a:xfrm>
              <a:custGeom>
                <a:avLst/>
                <a:gdLst/>
                <a:ahLst/>
                <a:cxnLst/>
                <a:rect r="r" b="b" t="t" l="l"/>
                <a:pathLst>
                  <a:path h="1426464" w="20451469">
                    <a:moveTo>
                      <a:pt x="635000" y="0"/>
                    </a:moveTo>
                    <a:lnTo>
                      <a:pt x="19816469" y="0"/>
                    </a:lnTo>
                    <a:cubicBezTo>
                      <a:pt x="20167171" y="0"/>
                      <a:pt x="20451469" y="284299"/>
                      <a:pt x="20451469" y="635000"/>
                    </a:cubicBezTo>
                    <a:lnTo>
                      <a:pt x="20451469" y="791464"/>
                    </a:lnTo>
                    <a:cubicBezTo>
                      <a:pt x="20451469" y="1142165"/>
                      <a:pt x="20167171" y="1426464"/>
                      <a:pt x="19816469" y="1426464"/>
                    </a:cubicBezTo>
                    <a:lnTo>
                      <a:pt x="635000" y="1426464"/>
                    </a:lnTo>
                    <a:cubicBezTo>
                      <a:pt x="466588" y="1426464"/>
                      <a:pt x="305073" y="1359562"/>
                      <a:pt x="185987" y="1240477"/>
                    </a:cubicBezTo>
                    <a:cubicBezTo>
                      <a:pt x="66902" y="1121391"/>
                      <a:pt x="0" y="959876"/>
                      <a:pt x="0" y="791464"/>
                    </a:cubicBezTo>
                    <a:lnTo>
                      <a:pt x="0" y="635000"/>
                    </a:ln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9360" r="0" b="-229360"/>
                </a:stretch>
              </a:blipFill>
              <a:ln w="38100" cap="rnd">
                <a:solidFill>
                  <a:srgbClr val="009E73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66675"/>
                <a:ext cx="20451470" cy="1493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60"/>
                  </a:lnSpc>
                </a:pP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Aleatoric noise stays; epistemic doubt shrinks with data.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3485896"/>
              <a:ext cx="1184656" cy="1184656"/>
              <a:chOff x="0" y="0"/>
              <a:chExt cx="1184656" cy="118465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84656" cy="1184656"/>
              </a:xfrm>
              <a:custGeom>
                <a:avLst/>
                <a:gdLst/>
                <a:ahLst/>
                <a:cxnLst/>
                <a:rect r="r" b="b" t="t" l="l"/>
                <a:pathLst>
                  <a:path h="1184656" w="1184656">
                    <a:moveTo>
                      <a:pt x="0" y="592328"/>
                    </a:moveTo>
                    <a:cubicBezTo>
                      <a:pt x="0" y="265176"/>
                      <a:pt x="265176" y="0"/>
                      <a:pt x="592328" y="0"/>
                    </a:cubicBezTo>
                    <a:cubicBezTo>
                      <a:pt x="919480" y="0"/>
                      <a:pt x="1184656" y="265176"/>
                      <a:pt x="1184656" y="592328"/>
                    </a:cubicBezTo>
                    <a:cubicBezTo>
                      <a:pt x="1184656" y="919480"/>
                      <a:pt x="919480" y="1184656"/>
                      <a:pt x="592328" y="1184656"/>
                    </a:cubicBezTo>
                    <a:cubicBezTo>
                      <a:pt x="265176" y="1184656"/>
                      <a:pt x="0" y="919480"/>
                      <a:pt x="0" y="592328"/>
                    </a:cubicBezTo>
                    <a:close/>
                  </a:path>
                </a:pathLst>
              </a:custGeom>
              <a:solidFill>
                <a:srgbClr val="1F2937"/>
              </a:solidFill>
              <a:ln w="38100" cap="sq">
                <a:solidFill>
                  <a:srgbClr val="CC79A7"/>
                </a:solidFill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5400" y="3511296"/>
              <a:ext cx="1133856" cy="1133856"/>
              <a:chOff x="0" y="0"/>
              <a:chExt cx="1133856" cy="113385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33856" cy="1133856"/>
              </a:xfrm>
              <a:custGeom>
                <a:avLst/>
                <a:gdLst/>
                <a:ahLst/>
                <a:cxnLst/>
                <a:rect r="r" b="b" t="t" l="l"/>
                <a:pathLst>
                  <a:path h="1133856" w="1133856">
                    <a:moveTo>
                      <a:pt x="0" y="0"/>
                    </a:moveTo>
                    <a:lnTo>
                      <a:pt x="1133856" y="0"/>
                    </a:lnTo>
                    <a:lnTo>
                      <a:pt x="1133856" y="1133856"/>
                    </a:lnTo>
                    <a:lnTo>
                      <a:pt x="0" y="113385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1133856" cy="11433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b="true" sz="3300">
                    <a:solidFill>
                      <a:srgbClr val="CC79A7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3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762760" y="3364992"/>
              <a:ext cx="20451470" cy="1426464"/>
              <a:chOff x="0" y="0"/>
              <a:chExt cx="20451470" cy="14264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0451469" cy="1426464"/>
              </a:xfrm>
              <a:custGeom>
                <a:avLst/>
                <a:gdLst/>
                <a:ahLst/>
                <a:cxnLst/>
                <a:rect r="r" b="b" t="t" l="l"/>
                <a:pathLst>
                  <a:path h="1426464" w="20451469">
                    <a:moveTo>
                      <a:pt x="635000" y="0"/>
                    </a:moveTo>
                    <a:lnTo>
                      <a:pt x="19816469" y="0"/>
                    </a:lnTo>
                    <a:cubicBezTo>
                      <a:pt x="20167171" y="0"/>
                      <a:pt x="20451469" y="284299"/>
                      <a:pt x="20451469" y="635000"/>
                    </a:cubicBezTo>
                    <a:lnTo>
                      <a:pt x="20451469" y="791464"/>
                    </a:lnTo>
                    <a:cubicBezTo>
                      <a:pt x="20451469" y="1142165"/>
                      <a:pt x="20167171" y="1426464"/>
                      <a:pt x="19816469" y="1426464"/>
                    </a:cubicBezTo>
                    <a:lnTo>
                      <a:pt x="635000" y="1426464"/>
                    </a:lnTo>
                    <a:cubicBezTo>
                      <a:pt x="466588" y="1426464"/>
                      <a:pt x="305073" y="1359562"/>
                      <a:pt x="185987" y="1240477"/>
                    </a:cubicBezTo>
                    <a:cubicBezTo>
                      <a:pt x="66902" y="1121391"/>
                      <a:pt x="0" y="959876"/>
                      <a:pt x="0" y="791464"/>
                    </a:cubicBezTo>
                    <a:lnTo>
                      <a:pt x="0" y="635000"/>
                    </a:ln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9360" r="0" b="-229360"/>
                </a:stretch>
              </a:blipFill>
              <a:ln w="38100" cap="rnd">
                <a:solidFill>
                  <a:srgbClr val="CC79A7"/>
                </a:solidFill>
                <a:prstDash val="solid"/>
                <a:round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66675"/>
                <a:ext cx="20451470" cy="1493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60"/>
                  </a:lnSpc>
                </a:pP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Crisp logic jumps; fuzzy sets give degrees; a degree is not a probability.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5168392"/>
              <a:ext cx="1184656" cy="1184656"/>
              <a:chOff x="0" y="0"/>
              <a:chExt cx="1184656" cy="118465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84656" cy="1184656"/>
              </a:xfrm>
              <a:custGeom>
                <a:avLst/>
                <a:gdLst/>
                <a:ahLst/>
                <a:cxnLst/>
                <a:rect r="r" b="b" t="t" l="l"/>
                <a:pathLst>
                  <a:path h="1184656" w="1184656">
                    <a:moveTo>
                      <a:pt x="0" y="592328"/>
                    </a:moveTo>
                    <a:cubicBezTo>
                      <a:pt x="0" y="265176"/>
                      <a:pt x="265176" y="0"/>
                      <a:pt x="592328" y="0"/>
                    </a:cubicBezTo>
                    <a:cubicBezTo>
                      <a:pt x="919480" y="0"/>
                      <a:pt x="1184656" y="265176"/>
                      <a:pt x="1184656" y="592328"/>
                    </a:cubicBezTo>
                    <a:cubicBezTo>
                      <a:pt x="1184656" y="919480"/>
                      <a:pt x="919480" y="1184656"/>
                      <a:pt x="592328" y="1184656"/>
                    </a:cubicBezTo>
                    <a:cubicBezTo>
                      <a:pt x="265176" y="1184656"/>
                      <a:pt x="0" y="919480"/>
                      <a:pt x="0" y="592328"/>
                    </a:cubicBezTo>
                    <a:close/>
                  </a:path>
                </a:pathLst>
              </a:custGeom>
              <a:solidFill>
                <a:srgbClr val="1F2937"/>
              </a:solidFill>
              <a:ln w="38100" cap="sq">
                <a:solidFill>
                  <a:srgbClr val="D55E00"/>
                </a:solidFill>
                <a:prstDash val="solid"/>
                <a:miter/>
              </a:ln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25400" y="5193792"/>
              <a:ext cx="1133856" cy="1133856"/>
              <a:chOff x="0" y="0"/>
              <a:chExt cx="1133856" cy="113385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33856" cy="1133856"/>
              </a:xfrm>
              <a:custGeom>
                <a:avLst/>
                <a:gdLst/>
                <a:ahLst/>
                <a:cxnLst/>
                <a:rect r="r" b="b" t="t" l="l"/>
                <a:pathLst>
                  <a:path h="1133856" w="1133856">
                    <a:moveTo>
                      <a:pt x="0" y="0"/>
                    </a:moveTo>
                    <a:lnTo>
                      <a:pt x="1133856" y="0"/>
                    </a:lnTo>
                    <a:lnTo>
                      <a:pt x="1133856" y="1133856"/>
                    </a:lnTo>
                    <a:lnTo>
                      <a:pt x="0" y="113385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1133856" cy="11433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b="true" sz="3300">
                    <a:solidFill>
                      <a:srgbClr val="D55E00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4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762760" y="5047488"/>
              <a:ext cx="20451470" cy="1426464"/>
              <a:chOff x="0" y="0"/>
              <a:chExt cx="20451470" cy="142646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0451469" cy="1426464"/>
              </a:xfrm>
              <a:custGeom>
                <a:avLst/>
                <a:gdLst/>
                <a:ahLst/>
                <a:cxnLst/>
                <a:rect r="r" b="b" t="t" l="l"/>
                <a:pathLst>
                  <a:path h="1426464" w="20451469">
                    <a:moveTo>
                      <a:pt x="635000" y="0"/>
                    </a:moveTo>
                    <a:lnTo>
                      <a:pt x="19816469" y="0"/>
                    </a:lnTo>
                    <a:cubicBezTo>
                      <a:pt x="20167171" y="0"/>
                      <a:pt x="20451469" y="284299"/>
                      <a:pt x="20451469" y="635000"/>
                    </a:cubicBezTo>
                    <a:lnTo>
                      <a:pt x="20451469" y="791464"/>
                    </a:lnTo>
                    <a:cubicBezTo>
                      <a:pt x="20451469" y="1142165"/>
                      <a:pt x="20167171" y="1426464"/>
                      <a:pt x="19816469" y="1426464"/>
                    </a:cubicBezTo>
                    <a:lnTo>
                      <a:pt x="635000" y="1426464"/>
                    </a:lnTo>
                    <a:cubicBezTo>
                      <a:pt x="466588" y="1426464"/>
                      <a:pt x="305073" y="1359562"/>
                      <a:pt x="185987" y="1240477"/>
                    </a:cubicBezTo>
                    <a:cubicBezTo>
                      <a:pt x="66902" y="1121391"/>
                      <a:pt x="0" y="959876"/>
                      <a:pt x="0" y="791464"/>
                    </a:cubicBezTo>
                    <a:lnTo>
                      <a:pt x="0" y="635000"/>
                    </a:ln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9360" r="0" b="-229360"/>
                </a:stretch>
              </a:blipFill>
              <a:ln w="38100" cap="rnd">
                <a:solidFill>
                  <a:srgbClr val="D55E00"/>
                </a:solidFill>
                <a:prstDash val="solid"/>
                <a:round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66675"/>
                <a:ext cx="20451470" cy="1493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60"/>
                  </a:lnSpc>
                </a:pP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Missing data has mechanisms, and every fix has a price.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6850888"/>
              <a:ext cx="1184656" cy="1184656"/>
              <a:chOff x="0" y="0"/>
              <a:chExt cx="1184656" cy="118465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184656" cy="1184656"/>
              </a:xfrm>
              <a:custGeom>
                <a:avLst/>
                <a:gdLst/>
                <a:ahLst/>
                <a:cxnLst/>
                <a:rect r="r" b="b" t="t" l="l"/>
                <a:pathLst>
                  <a:path h="1184656" w="1184656">
                    <a:moveTo>
                      <a:pt x="0" y="592328"/>
                    </a:moveTo>
                    <a:cubicBezTo>
                      <a:pt x="0" y="265176"/>
                      <a:pt x="265176" y="0"/>
                      <a:pt x="592328" y="0"/>
                    </a:cubicBezTo>
                    <a:cubicBezTo>
                      <a:pt x="919480" y="0"/>
                      <a:pt x="1184656" y="265176"/>
                      <a:pt x="1184656" y="592328"/>
                    </a:cubicBezTo>
                    <a:cubicBezTo>
                      <a:pt x="1184656" y="919480"/>
                      <a:pt x="919480" y="1184656"/>
                      <a:pt x="592328" y="1184656"/>
                    </a:cubicBezTo>
                    <a:cubicBezTo>
                      <a:pt x="265176" y="1184656"/>
                      <a:pt x="0" y="919480"/>
                      <a:pt x="0" y="592328"/>
                    </a:cubicBezTo>
                    <a:close/>
                  </a:path>
                </a:pathLst>
              </a:custGeom>
              <a:solidFill>
                <a:srgbClr val="1F2937"/>
              </a:solidFill>
              <a:ln w="38100" cap="sq">
                <a:solidFill>
                  <a:srgbClr val="5E17EB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25400" y="6876288"/>
              <a:ext cx="1133856" cy="1133856"/>
              <a:chOff x="0" y="0"/>
              <a:chExt cx="1133856" cy="113385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33856" cy="1133856"/>
              </a:xfrm>
              <a:custGeom>
                <a:avLst/>
                <a:gdLst/>
                <a:ahLst/>
                <a:cxnLst/>
                <a:rect r="r" b="b" t="t" l="l"/>
                <a:pathLst>
                  <a:path h="1133856" w="1133856">
                    <a:moveTo>
                      <a:pt x="0" y="0"/>
                    </a:moveTo>
                    <a:lnTo>
                      <a:pt x="1133856" y="0"/>
                    </a:lnTo>
                    <a:lnTo>
                      <a:pt x="1133856" y="1133856"/>
                    </a:lnTo>
                    <a:lnTo>
                      <a:pt x="0" y="113385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133856" cy="11433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b="true" sz="3300">
                    <a:solidFill>
                      <a:srgbClr val="5E17EB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5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762760" y="6729984"/>
              <a:ext cx="20451470" cy="1426464"/>
              <a:chOff x="0" y="0"/>
              <a:chExt cx="20451470" cy="1426464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0451469" cy="1426464"/>
              </a:xfrm>
              <a:custGeom>
                <a:avLst/>
                <a:gdLst/>
                <a:ahLst/>
                <a:cxnLst/>
                <a:rect r="r" b="b" t="t" l="l"/>
                <a:pathLst>
                  <a:path h="1426464" w="20451469">
                    <a:moveTo>
                      <a:pt x="635000" y="0"/>
                    </a:moveTo>
                    <a:lnTo>
                      <a:pt x="19816469" y="0"/>
                    </a:lnTo>
                    <a:cubicBezTo>
                      <a:pt x="20167171" y="0"/>
                      <a:pt x="20451469" y="284299"/>
                      <a:pt x="20451469" y="635000"/>
                    </a:cubicBezTo>
                    <a:lnTo>
                      <a:pt x="20451469" y="791464"/>
                    </a:lnTo>
                    <a:cubicBezTo>
                      <a:pt x="20451469" y="1142165"/>
                      <a:pt x="20167171" y="1426464"/>
                      <a:pt x="19816469" y="1426464"/>
                    </a:cubicBezTo>
                    <a:lnTo>
                      <a:pt x="635000" y="1426464"/>
                    </a:lnTo>
                    <a:cubicBezTo>
                      <a:pt x="466588" y="1426464"/>
                      <a:pt x="305073" y="1359562"/>
                      <a:pt x="185987" y="1240477"/>
                    </a:cubicBezTo>
                    <a:cubicBezTo>
                      <a:pt x="66902" y="1121391"/>
                      <a:pt x="0" y="959876"/>
                      <a:pt x="0" y="791464"/>
                    </a:cubicBezTo>
                    <a:lnTo>
                      <a:pt x="0" y="635000"/>
                    </a:ln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29360" r="0" b="-229360"/>
                </a:stretch>
              </a:blipFill>
              <a:ln w="3810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66675"/>
                <a:ext cx="20451470" cy="149313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960"/>
                  </a:lnSpc>
                </a:pP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</a:t>
                </a:r>
                <a:r>
                  <a:rPr lang="en-US" sz="3300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 trustworthy model can say “I am not sure” and knows why.</a:t>
                </a: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000" r="0" b="-2099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525" y="0"/>
            <a:ext cx="18288000" cy="1484475"/>
          </a:xfrm>
          <a:custGeom>
            <a:avLst/>
            <a:gdLst/>
            <a:ahLst/>
            <a:cxnLst/>
            <a:rect r="r" b="b" t="t" l="l"/>
            <a:pathLst>
              <a:path h="1484475" w="18288000">
                <a:moveTo>
                  <a:pt x="0" y="0"/>
                </a:moveTo>
                <a:lnTo>
                  <a:pt x="18288000" y="0"/>
                </a:lnTo>
                <a:lnTo>
                  <a:pt x="18288000" y="1484475"/>
                </a:lnTo>
                <a:lnTo>
                  <a:pt x="0" y="1484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297" r="0" b="-713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9184" y="0"/>
            <a:ext cx="128016" cy="10287000"/>
            <a:chOff x="0" y="0"/>
            <a:chExt cx="170688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C8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38679" y="9362913"/>
            <a:ext cx="1824971" cy="591769"/>
            <a:chOff x="0" y="0"/>
            <a:chExt cx="2433295" cy="789026"/>
          </a:xfrm>
        </p:grpSpPr>
        <p:sp>
          <p:nvSpPr>
            <p:cNvPr name="Freeform 9" id="9" descr="C:\Users\LENOVO\Downloads\IEEE_high_logo.png"/>
            <p:cNvSpPr/>
            <p:nvPr/>
          </p:nvSpPr>
          <p:spPr>
            <a:xfrm flipH="false" flipV="false" rot="0">
              <a:off x="0" y="0"/>
              <a:ext cx="2433320" cy="789051"/>
            </a:xfrm>
            <a:custGeom>
              <a:avLst/>
              <a:gdLst/>
              <a:ahLst/>
              <a:cxnLst/>
              <a:rect r="r" b="b" t="t" l="l"/>
              <a:pathLst>
                <a:path h="789051" w="2433320">
                  <a:moveTo>
                    <a:pt x="0" y="0"/>
                  </a:moveTo>
                  <a:lnTo>
                    <a:pt x="2433320" y="0"/>
                  </a:lnTo>
                  <a:lnTo>
                    <a:pt x="2433320" y="789051"/>
                  </a:lnTo>
                  <a:lnTo>
                    <a:pt x="0" y="789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7" b="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14833" y="9326880"/>
            <a:ext cx="673351" cy="684209"/>
            <a:chOff x="0" y="0"/>
            <a:chExt cx="897801" cy="912279"/>
          </a:xfrm>
        </p:grpSpPr>
        <p:sp>
          <p:nvSpPr>
            <p:cNvPr name="Freeform 11" id="11" descr="C:\Users\LENOVO\Downloads\ICMISI Certificate 2025 (Landscape) (2).png"/>
            <p:cNvSpPr/>
            <p:nvPr/>
          </p:nvSpPr>
          <p:spPr>
            <a:xfrm flipH="false" flipV="false" rot="0">
              <a:off x="0" y="0"/>
              <a:ext cx="897763" cy="912241"/>
            </a:xfrm>
            <a:custGeom>
              <a:avLst/>
              <a:gdLst/>
              <a:ahLst/>
              <a:cxnLst/>
              <a:rect r="r" b="b" t="t" l="l"/>
              <a:pathLst>
                <a:path h="912241" w="897763">
                  <a:moveTo>
                    <a:pt x="0" y="0"/>
                  </a:moveTo>
                  <a:lnTo>
                    <a:pt x="897763" y="0"/>
                  </a:lnTo>
                  <a:lnTo>
                    <a:pt x="897763" y="912241"/>
                  </a:lnTo>
                  <a:lnTo>
                    <a:pt x="0" y="912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458" t="-23176" r="-67661" b="-1562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3169" y="389770"/>
            <a:ext cx="16641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4C842"/>
                </a:solidFill>
                <a:latin typeface="Cambria Bold"/>
                <a:ea typeface="Cambria Bold"/>
                <a:cs typeface="Cambria Bold"/>
                <a:sym typeface="Cambria Bold"/>
              </a:rPr>
              <a:t>References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1765935"/>
            <a:ext cx="8161020" cy="72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S. Russell and P. Norvig,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Artificial Intelligence: A Modern Approach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4th ed. Hoboken, NJ, USA: Pearson, 2021.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[2]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I. Goodfellow, Y. Bengio, and A. Courville,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Deep Learning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. Cambridge, MA, USA: MIT Press, 2016.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[3]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A. P. Engelbrecht,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Computational Intelligence: An Introduction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2nd ed. Chichester, U.K.: Wiley, 2007.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[4]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E. H. Shortliffe,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Computer-Based Medical Consultations: MYCIN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. New York, NY, USA: Elsevier, 1976.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[5]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V. Gulshan et al., “Development and validation of a deep learning algorithm for detection of diabetic retinopathy in retinal fundus photographs,”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JAMA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vol. 316, no. 22, pp. 2402–2410, 2016, doi: 10.1001/jama.2016.17216.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[6]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C. Guo, G. Pleiss, Y. Sun, and K. Q. Weinberger, “On calibration of modern neural networks,” in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Proc. 34th Int. Conf. Mach. Learn. (ICML)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vol. 70, 2017, pp. 1321–1330.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[7]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Transportation Safety Board, “Collision between vehicle controlled by developmental automated driving system and pedestrian, Tempe, Arizona, March 18, 2018,” Washington, DC, USA, Highway Accident Rep. NTSB/HAR-19/03, 2019. [Online]. Available: https://www.ntsb.gov/investigations/AccidentReports/Reports/HAR1903.pdf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[8]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Transportation Safety Board, “Preliminary report: Highway HWY18MH010,” Washington, DC, USA, 2018.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9448" y="1765935"/>
            <a:ext cx="8165135" cy="757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[9]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E. Beede et al., “A human-centered evaluation of a deep learning system deployed in clinics for the detection of diabetic retinopathy,” in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Proc. CHI Conf. Human Factors Comput. Syst.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2020, doi: 10.1145/3313831.3376718.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[10]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E. Hüllermeier and W. Waegeman, “Aleatoric and epistemic uncertainty in machine learning: An introduction to concepts and methods,”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Mach. Learn.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vol. 110, no. 3, pp. 457–506, Mar. 2021, doi: 10.1007/s10994-021-05946-3.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[11]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D. Hyde and D. Raffman, “Sorites paradox,” in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Stanford Encyclopedia of Philosophy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(rev. Aug. 26, 2025). Accessed: Sep. 30, 2026. [Online]. Available: https://plato.stanford.edu/entries/sorites-paradox/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[12]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L. A. Zadeh, “Fuzzy sets,”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Inf. Control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vol. 8, no. 3, pp. 338–353, Jun. 1965, doi: 10.1016/S0019-9958(65)90241-X.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[13]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D. B. Rubin, “Inference and missing data,”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Biometrika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vol. 63, no. 3, pp. 581–592, 1976, doi: 10.1093/biomet/63.3.581.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[14]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J. W. Smith, J. E. Everhart, W. C. Dickson, W. C. Knowler, and R. S. Johannes, “Using the ADAP learning algorithm to forecast the onset of diabetes mellitus,” in </a:t>
            </a:r>
            <a:r>
              <a:rPr lang="en-US" sz="195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Proc. Symp. Comput. Appl. Med. Care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, 1988, pp. 261–265.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[15]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Plotly, “diabetes.csv (Pima Indians Diabetes Database),” plotly/datasets repository, GitHub. Accessed: Sep. 30, 2026. [Online]. Available: https://github.com/plotly/datasets/blob/master/diabetes.csv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[16]  </a:t>
            </a:r>
            <a:r>
              <a:rPr lang="en-US" sz="195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World Health Organization, “Obesity and overweight,” fact sheet, Dec. 8, 2025. Accessed: Sep. 30, 2026. [Online]. Available: https://www.who.int/news-room/fact-sheets/detail/obesity-and-overweight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000" r="0" b="-2099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14400" y="-914400"/>
            <a:ext cx="7315200" cy="7315200"/>
            <a:chOff x="0" y="0"/>
            <a:chExt cx="97536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00A896">
                <a:alpha val="117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" y="0"/>
            <a:ext cx="128016" cy="10287000"/>
            <a:chOff x="0" y="0"/>
            <a:chExt cx="170688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C84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097280"/>
            <a:ext cx="16642080" cy="2209165"/>
            <a:chOff x="0" y="0"/>
            <a:chExt cx="22189440" cy="29455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9439" cy="2945553"/>
            </a:xfrm>
            <a:custGeom>
              <a:avLst/>
              <a:gdLst/>
              <a:ahLst/>
              <a:cxnLst/>
              <a:rect r="r" b="b" t="t" l="l"/>
              <a:pathLst>
                <a:path h="2945553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945553"/>
                  </a:lnTo>
                  <a:lnTo>
                    <a:pt x="0" y="29455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54" r="0" b="-923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28600"/>
              <a:ext cx="22189440" cy="3174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199"/>
                </a:lnSpc>
              </a:pPr>
              <a:r>
                <a:rPr lang="en-US" b="true" sz="10999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494056"/>
            <a:ext cx="16642080" cy="1005840"/>
            <a:chOff x="0" y="0"/>
            <a:chExt cx="2218944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21894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A8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43200" y="4884992"/>
            <a:ext cx="12801600" cy="73152"/>
            <a:chOff x="0" y="0"/>
            <a:chExt cx="17068800" cy="975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97536"/>
            </a:xfrm>
            <a:custGeom>
              <a:avLst/>
              <a:gdLst/>
              <a:ahLst/>
              <a:cxnLst/>
              <a:rect r="r" b="b" t="t" l="l"/>
              <a:pathLst>
                <a:path h="97536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4C8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6734175"/>
            <a:ext cx="17099280" cy="1221377"/>
            <a:chOff x="0" y="0"/>
            <a:chExt cx="2218944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18944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Matrouh University, Egypt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Presenter : Ahmed Ayman Tayel | Registration ID: 232611000001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DAHWtLZhh-Q</dc:identifier>
  <dcterms:modified xsi:type="dcterms:W3CDTF">2011-08-01T06:04:30Z</dcterms:modified>
  <cp:revision>1</cp:revision>
  <dc:title>Presenter : Ahmed Ayman Tayel | Registration ID: 232611000001 | Team 01</dc:title>
</cp:coreProperties>
</file>